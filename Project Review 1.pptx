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9" r:id="rId3"/>
    <p:sldId id="266" r:id="rId4"/>
    <p:sldId id="258" r:id="rId5"/>
    <p:sldId id="262" r:id="rId6"/>
    <p:sldId id="267" r:id="rId7"/>
    <p:sldId id="260" r:id="rId8"/>
    <p:sldId id="261" r:id="rId9"/>
    <p:sldId id="265" r:id="rId10"/>
    <p:sldId id="268" r:id="rId11"/>
    <p:sldId id="269" r:id="rId12"/>
    <p:sldId id="270" r:id="rId13"/>
  </p:sldIdLst>
  <p:sldSz cx="18288000" cy="10287000"/>
  <p:notesSz cx="6858000" cy="9144000"/>
  <p:embeddedFontLst>
    <p:embeddedFont>
      <p:font typeface="Ali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C4D"/>
    <a:srgbClr val="FF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40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svg"/><Relationship Id="rId11" Type="http://schemas.openxmlformats.org/officeDocument/2006/relationships/hyperlink" Target="https://doi.org/10.1080/17483107.2025.2582033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pubmed.ncbi.nlm.nih.gov/41182323/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9" name="Freeform 9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72837" r="-41" b="-72169"/>
                </a:stretch>
              </a:blipFill>
            </p:spPr>
          </p:sp>
        </p:grp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13" name="Freeform 1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16" name="Freeform 1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4"/>
              <a:stretch>
                <a:fillRect l="-21533" t="-52205" r="-9221" b="-21530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9" name="Freeform 1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7"/>
              <a:stretch>
                <a:fillRect l="-94283" t="-93526" r="-46" b="-1"/>
              </a:stretch>
            </a:blipFill>
          </p:spPr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C6A8E44-C530-35A0-EFFA-9ADB95611AD0}"/>
              </a:ext>
            </a:extLst>
          </p:cNvPr>
          <p:cNvSpPr txBox="1"/>
          <p:nvPr/>
        </p:nvSpPr>
        <p:spPr>
          <a:xfrm>
            <a:off x="4149033" y="2619076"/>
            <a:ext cx="85837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A </a:t>
            </a:r>
          </a:p>
          <a:p>
            <a:pPr algn="ctr"/>
            <a:r>
              <a:rPr lang="en-US" sz="4400" b="1" dirty="0"/>
              <a:t>Project Presentation </a:t>
            </a:r>
          </a:p>
          <a:p>
            <a:pPr algn="ctr"/>
            <a:r>
              <a:rPr lang="en-US" sz="4400" b="1" dirty="0"/>
              <a:t>On</a:t>
            </a:r>
          </a:p>
          <a:p>
            <a:pPr algn="ctr"/>
            <a:r>
              <a:rPr lang="en-US" sz="4400" b="1" dirty="0"/>
              <a:t>IOT Scribe System for Visually Impaired Students</a:t>
            </a:r>
            <a:endParaRPr lang="en-IN" sz="4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D5A9BD-40E5-9035-3CA0-8749C15ADE6C}"/>
              </a:ext>
            </a:extLst>
          </p:cNvPr>
          <p:cNvSpPr txBox="1"/>
          <p:nvPr/>
        </p:nvSpPr>
        <p:spPr>
          <a:xfrm>
            <a:off x="1786253" y="4820334"/>
            <a:ext cx="1036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                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A52F4C-5427-A3AB-702C-C8DE7CF494AE}"/>
              </a:ext>
            </a:extLst>
          </p:cNvPr>
          <p:cNvSpPr txBox="1"/>
          <p:nvPr/>
        </p:nvSpPr>
        <p:spPr>
          <a:xfrm>
            <a:off x="4537840" y="6479175"/>
            <a:ext cx="9144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Team Members:- 1.Sanket </a:t>
            </a:r>
            <a:r>
              <a:rPr lang="en-IN" sz="3600" b="1" dirty="0" err="1"/>
              <a:t>Sherki</a:t>
            </a:r>
            <a:endParaRPr lang="en-IN" sz="3600" b="1" dirty="0"/>
          </a:p>
          <a:p>
            <a:r>
              <a:rPr lang="en-IN" sz="3600" b="1" dirty="0"/>
              <a:t>			       2.Om Rajesh </a:t>
            </a:r>
            <a:r>
              <a:rPr lang="en-IN" sz="3600" b="1" dirty="0" err="1"/>
              <a:t>Mallepelli</a:t>
            </a:r>
            <a:endParaRPr lang="en-IN" sz="3600" b="1" dirty="0"/>
          </a:p>
          <a:p>
            <a:r>
              <a:rPr lang="en-IN" sz="3600" b="1" dirty="0"/>
              <a:t>			       3.Vaishnav </a:t>
            </a:r>
            <a:r>
              <a:rPr lang="en-IN" sz="3600" b="1" dirty="0" err="1"/>
              <a:t>Waghre</a:t>
            </a:r>
            <a:endParaRPr lang="en-IN" sz="3600" b="1" dirty="0"/>
          </a:p>
          <a:p>
            <a:endParaRPr lang="en-IN" sz="3600" b="1" dirty="0"/>
          </a:p>
          <a:p>
            <a:r>
              <a:rPr lang="en-IN" sz="3600" b="1" dirty="0"/>
              <a:t>			      		</a:t>
            </a:r>
            <a:endParaRPr lang="en-IN"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41629E-BC43-A8C7-23D5-81293237D6B1}"/>
              </a:ext>
            </a:extLst>
          </p:cNvPr>
          <p:cNvSpPr txBox="1"/>
          <p:nvPr/>
        </p:nvSpPr>
        <p:spPr>
          <a:xfrm>
            <a:off x="3352800" y="1185922"/>
            <a:ext cx="109449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Peoples</a:t>
            </a:r>
            <a:r>
              <a:rPr lang="en-US" sz="4000" b="1" spc="-130" dirty="0"/>
              <a:t> </a:t>
            </a:r>
            <a:r>
              <a:rPr lang="en-US" sz="4000" b="1" dirty="0"/>
              <a:t>Empowerment</a:t>
            </a:r>
            <a:r>
              <a:rPr lang="en-US" sz="4000" b="1" spc="-125" dirty="0"/>
              <a:t> </a:t>
            </a:r>
            <a:r>
              <a:rPr lang="en-US" sz="4000" b="1" spc="-10" dirty="0"/>
              <a:t>Group</a:t>
            </a:r>
            <a:br>
              <a:rPr lang="en-US" sz="4000" b="1" dirty="0"/>
            </a:br>
            <a:r>
              <a:rPr lang="en-US" sz="4000" b="1" dirty="0"/>
              <a:t>ISBM</a:t>
            </a:r>
            <a:r>
              <a:rPr lang="en-US" sz="4000" b="1" spc="-110" dirty="0"/>
              <a:t> </a:t>
            </a:r>
            <a:r>
              <a:rPr lang="en-US" sz="4000" b="1" dirty="0"/>
              <a:t>COLLEGE</a:t>
            </a:r>
            <a:r>
              <a:rPr lang="en-US" sz="4000" b="1" spc="-90" dirty="0"/>
              <a:t> </a:t>
            </a:r>
            <a:r>
              <a:rPr lang="en-US" sz="4000" b="1" dirty="0"/>
              <a:t>OF</a:t>
            </a:r>
            <a:r>
              <a:rPr lang="en-US" sz="4000" b="1" spc="-175" dirty="0"/>
              <a:t> </a:t>
            </a:r>
            <a:r>
              <a:rPr lang="en-US" sz="4000" b="1" spc="-10" dirty="0"/>
              <a:t>ENGINEERING,</a:t>
            </a:r>
            <a:r>
              <a:rPr lang="en-US" sz="4000" b="1" spc="-95" dirty="0"/>
              <a:t> </a:t>
            </a:r>
            <a:r>
              <a:rPr lang="en-US" sz="4000" b="1" dirty="0"/>
              <a:t>NANDE,</a:t>
            </a:r>
            <a:r>
              <a:rPr lang="en-US" sz="4000" b="1" spc="-95" dirty="0"/>
              <a:t> </a:t>
            </a:r>
            <a:r>
              <a:rPr lang="en-US" sz="4000" b="1" spc="-20" dirty="0"/>
              <a:t>PUNE</a:t>
            </a:r>
            <a:endParaRPr lang="en-IN" sz="4000" b="1" dirty="0"/>
          </a:p>
        </p:txBody>
      </p:sp>
      <p:pic>
        <p:nvPicPr>
          <p:cNvPr id="28" name="object 4">
            <a:extLst>
              <a:ext uri="{FF2B5EF4-FFF2-40B4-BE49-F238E27FC236}">
                <a16:creationId xmlns:a16="http://schemas.microsoft.com/office/drawing/2014/main" id="{2E90B70E-8333-9527-FF8E-70065807D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276" y="1200436"/>
            <a:ext cx="115151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-458671" y="886671"/>
            <a:ext cx="18273281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PROBLEM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B951B-5D1D-E9A7-6278-01A6561B3A98}"/>
              </a:ext>
            </a:extLst>
          </p:cNvPr>
          <p:cNvSpPr txBox="1"/>
          <p:nvPr/>
        </p:nvSpPr>
        <p:spPr>
          <a:xfrm>
            <a:off x="990600" y="2755995"/>
            <a:ext cx="12877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/>
              <a:t>The Reality Today:</a:t>
            </a:r>
          </a:p>
          <a:p>
            <a:endParaRPr lang="en-US" sz="4400" b="1" dirty="0"/>
          </a:p>
          <a:p>
            <a:r>
              <a:rPr lang="en-US" sz="4400" dirty="0"/>
              <a:t>• Visually impaired students depend on human scribes</a:t>
            </a:r>
            <a:br>
              <a:rPr lang="en-US" sz="4400" dirty="0"/>
            </a:br>
            <a:r>
              <a:rPr lang="en-US" sz="4400" dirty="0"/>
              <a:t>• Leads to bias, privacy loss &amp; recurring cost</a:t>
            </a:r>
            <a:br>
              <a:rPr lang="en-US" sz="4400" dirty="0"/>
            </a:br>
            <a:r>
              <a:rPr lang="en-US" sz="4400" dirty="0"/>
              <a:t>• Existing digital exams are visual-first</a:t>
            </a:r>
            <a:br>
              <a:rPr lang="en-US" sz="4400" dirty="0"/>
            </a:br>
            <a:r>
              <a:rPr lang="en-US" sz="4400" dirty="0"/>
              <a:t>• Inclusive exam tools are missing</a:t>
            </a:r>
            <a:endParaRPr lang="en-US" sz="4400" b="1" dirty="0"/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854304AC-8226-93D3-3624-E582D6D4D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EBC87B-F140-B4FF-21B4-FD64008E7B91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9ECFC8-7FE0-F2BF-801B-7C1C64063052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4D5C67A-C783-55A2-8F49-23247FDA0679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F940D93-1CFC-9E3A-61A5-117308F18C92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64CF5BC-3206-0B37-692F-0E7CDAF7EED1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8545940-EA81-F4D0-83AE-D3B01545F295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4554CA2-039C-E028-CBC0-3BE29B1A5D81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86A1221-E1EA-3635-AA89-471F5B952ADC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8EF59D6-4C69-1F38-5075-D346612D3855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4C263E6-123F-FB68-0264-07F62AF50B8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EA2E519-7BA0-8E51-20E1-CE024D3AEE78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4D3B59C4-2D8C-CA05-81D7-941D69215A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93B998AC-923A-10FE-D461-E469674B3EA8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5D303C58-1DEB-394C-6694-8EC4C75F97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E302E6E9-849E-1FE5-2DCF-4C5814560A4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257D77A8-18AC-41C6-8DDE-19DE1C163445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7C1E4B2B-37F3-6342-513E-CD2D50F2EF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F64F1F93-EF16-BF00-5A09-63174B902A18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C608609-90CA-6D57-DBD4-A6FBB7D7B9F0}"/>
              </a:ext>
            </a:extLst>
          </p:cNvPr>
          <p:cNvSpPr txBox="1"/>
          <p:nvPr/>
        </p:nvSpPr>
        <p:spPr>
          <a:xfrm>
            <a:off x="-351018" y="913661"/>
            <a:ext cx="18273281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OBJECTIVES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CA3B7-2FF8-13BB-1315-7705915ADFFB}"/>
              </a:ext>
            </a:extLst>
          </p:cNvPr>
          <p:cNvSpPr txBox="1"/>
          <p:nvPr/>
        </p:nvSpPr>
        <p:spPr>
          <a:xfrm>
            <a:off x="990600" y="2755995"/>
            <a:ext cx="12877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b="1" dirty="0"/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3021A91B-F935-D4EE-635E-486AA6A61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129D88-EFF9-205B-6704-78E2F5680B0C}"/>
              </a:ext>
            </a:extLst>
          </p:cNvPr>
          <p:cNvSpPr txBox="1"/>
          <p:nvPr/>
        </p:nvSpPr>
        <p:spPr>
          <a:xfrm>
            <a:off x="2057400" y="2629354"/>
            <a:ext cx="12268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Design an assistive examination device for visually impaired students.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Convert examination questions into audio instructions.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Allow students to select answers using dedicated buttons.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Display the selected answer for invigilator verification.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Store examination responses digitally.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Enable wireless transfer of examination data using IoT.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Develop a low-cost and user-friendly solution.</a:t>
            </a:r>
          </a:p>
        </p:txBody>
      </p:sp>
    </p:spTree>
    <p:extLst>
      <p:ext uri="{BB962C8B-B14F-4D97-AF65-F5344CB8AC3E}">
        <p14:creationId xmlns:p14="http://schemas.microsoft.com/office/powerpoint/2010/main" val="201293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89661" y="-71547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-106487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2687937" y="642922"/>
            <a:ext cx="12758857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SPECIFICATIONS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9E1B9C-F809-1B62-5C26-E7C8BC1FA801}"/>
              </a:ext>
            </a:extLst>
          </p:cNvPr>
          <p:cNvSpPr txBox="1"/>
          <p:nvPr/>
        </p:nvSpPr>
        <p:spPr>
          <a:xfrm>
            <a:off x="1943548" y="2310661"/>
            <a:ext cx="91908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/>
              <a:t>🔧 Hardware:</a:t>
            </a:r>
          </a:p>
          <a:p>
            <a:r>
              <a:rPr lang="en-IN" sz="3600" dirty="0"/>
              <a:t>            Arduino Uno</a:t>
            </a:r>
            <a:br>
              <a:rPr lang="en-IN" sz="3600" dirty="0"/>
            </a:br>
            <a:r>
              <a:rPr lang="en-IN" sz="3600" dirty="0"/>
              <a:t>            DF Player Mini + headphone</a:t>
            </a:r>
            <a:br>
              <a:rPr lang="en-IN" sz="3600" dirty="0"/>
            </a:br>
            <a:r>
              <a:rPr lang="en-IN" sz="3600" dirty="0"/>
              <a:t>            Bluetooth HC-06</a:t>
            </a:r>
            <a:br>
              <a:rPr lang="en-IN" sz="3600" dirty="0"/>
            </a:br>
            <a:r>
              <a:rPr lang="en-IN" sz="3600" dirty="0"/>
              <a:t>            Keypad / Buttons</a:t>
            </a:r>
            <a:br>
              <a:rPr lang="en-IN" sz="3600" dirty="0"/>
            </a:br>
            <a:r>
              <a:rPr lang="en-IN" sz="3600" dirty="0"/>
              <a:t>            SD Card Module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/>
              <a:t>💻 Software:</a:t>
            </a:r>
          </a:p>
          <a:p>
            <a:r>
              <a:rPr lang="en-IN" sz="3600" dirty="0"/>
              <a:t>            Arduino IDE (C/C++)</a:t>
            </a:r>
            <a:br>
              <a:rPr lang="en-IN" sz="3600" dirty="0"/>
            </a:br>
            <a:r>
              <a:rPr lang="en-IN" sz="3600" dirty="0"/>
              <a:t>            Python (Backend)</a:t>
            </a:r>
            <a:br>
              <a:rPr lang="en-IN" sz="3600" dirty="0"/>
            </a:br>
            <a:r>
              <a:rPr lang="en-IN" sz="3600" dirty="0"/>
              <a:t>            HTML/CSS (Interface)</a:t>
            </a:r>
          </a:p>
        </p:txBody>
      </p:sp>
      <p:sp>
        <p:nvSpPr>
          <p:cNvPr id="26" name="AutoShape 2" descr="Generated image">
            <a:extLst>
              <a:ext uri="{FF2B5EF4-FFF2-40B4-BE49-F238E27FC236}">
                <a16:creationId xmlns:a16="http://schemas.microsoft.com/office/drawing/2014/main" id="{B5C9C2E4-4F4E-D888-1A20-3DAA4D3B19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82040" y="4991100"/>
            <a:ext cx="4026538" cy="402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4" descr="Generated image">
            <a:extLst>
              <a:ext uri="{FF2B5EF4-FFF2-40B4-BE49-F238E27FC236}">
                <a16:creationId xmlns:a16="http://schemas.microsoft.com/office/drawing/2014/main" id="{2CF80A91-E3F0-0536-6CE4-76E28D9671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F9108A0-D143-80CC-E7BE-892D15D814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651" y="2428427"/>
            <a:ext cx="7815915" cy="5210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4336" y="116959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062063" y="-15227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6498952"/>
            <a:ext cx="18894594" cy="3851542"/>
            <a:chOff x="0" y="0"/>
            <a:chExt cx="25192793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810729" y="1758189"/>
              <a:ext cx="11570624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1199575" y="2557853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214315" y="2588436"/>
              <a:ext cx="10700812" cy="2503408"/>
              <a:chOff x="59519" y="191803"/>
              <a:chExt cx="4431919" cy="103682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9519" y="191803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2171260" y="838240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KEY FEATURES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B7CACB-8C0F-D510-9B37-FB19E98EE01E}"/>
              </a:ext>
            </a:extLst>
          </p:cNvPr>
          <p:cNvSpPr txBox="1"/>
          <p:nvPr/>
        </p:nvSpPr>
        <p:spPr>
          <a:xfrm>
            <a:off x="1952316" y="3158529"/>
            <a:ext cx="98076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• </a:t>
            </a:r>
            <a:r>
              <a:rPr lang="en-US" sz="4000" dirty="0"/>
              <a:t>Enables independent exam writing</a:t>
            </a:r>
            <a:br>
              <a:rPr lang="en-US" sz="4000" dirty="0"/>
            </a:br>
            <a:r>
              <a:rPr lang="en-US" sz="4000" dirty="0"/>
              <a:t>• Eliminates recurring scribe costs</a:t>
            </a:r>
            <a:br>
              <a:rPr lang="en-US" sz="4000" dirty="0"/>
            </a:br>
            <a:r>
              <a:rPr lang="en-US" sz="4000" dirty="0"/>
              <a:t>• Works offline</a:t>
            </a:r>
            <a:br>
              <a:rPr lang="en-US" sz="4000" dirty="0"/>
            </a:br>
            <a:r>
              <a:rPr lang="en-US" sz="4000" dirty="0"/>
              <a:t>• Low-cost hardware solution</a:t>
            </a:r>
            <a:br>
              <a:rPr lang="en-US" sz="4000" dirty="0"/>
            </a:br>
            <a:r>
              <a:rPr lang="en-US" sz="4000" dirty="0"/>
              <a:t>• Promotes inclusive education</a:t>
            </a:r>
            <a:br>
              <a:rPr lang="en-US" sz="4000" dirty="0"/>
            </a:br>
            <a:r>
              <a:rPr lang="en-US" sz="4000" dirty="0"/>
              <a:t>• Scalable nationwide</a:t>
            </a:r>
            <a:endParaRPr lang="en-IN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03837A2-6D56-BC4E-E61E-9625D25ED724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1085F4F7-623A-5496-9E4E-AD7B70EBD08D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444196C5-3612-F389-4850-6CF6F22EE15A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4800394B-A935-0CE3-EFAF-46F889CEA053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46415A6-8054-39E9-F521-CF2FDE70D4A0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F382BB57-7FC2-CCFC-2ECA-9BC5C3BF0DA8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3CCD815D-DD8F-1F82-D212-C52AB5FE6801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94E4787-D611-C79D-881A-3D9D61637C85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6AE70911-8C16-1C58-1102-974615658DFD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8B10623-AA75-C1EF-EBCF-58556CBF9B1E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77ADA9E-AD62-9789-4FAA-5CB8D1BDF3D1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6A8E1EF9-12DC-C168-49C1-A35C5232C4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C2DA9A60-17D2-50F4-34B3-DE56F2BC097A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CC49E70-96EE-8A89-A2E2-26B16B03AF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96FEBA20-FC77-ADD6-811C-5261AA04E7FE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E1553CB-B6EA-256A-A8E0-8A23413E25CD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E993109-DA40-5A61-106C-876D2F8570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6A5D702-B058-E9F1-DDD2-EF7806E18197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C783419D-D9FE-E50C-A9F3-E468B94DD349}"/>
              </a:ext>
            </a:extLst>
          </p:cNvPr>
          <p:cNvSpPr txBox="1"/>
          <p:nvPr/>
        </p:nvSpPr>
        <p:spPr>
          <a:xfrm>
            <a:off x="-696447" y="1022704"/>
            <a:ext cx="1827328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IN" sz="5400" dirty="0">
                <a:latin typeface="Alice" panose="020B0604020202020204" charset="0"/>
              </a:rPr>
              <a:t>GOALS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2FB0954C-7EAE-EB7A-212A-E9E3D49DC8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F368EC-B650-E193-79DD-4213692164CB}"/>
              </a:ext>
            </a:extLst>
          </p:cNvPr>
          <p:cNvSpPr txBox="1"/>
          <p:nvPr/>
        </p:nvSpPr>
        <p:spPr>
          <a:xfrm>
            <a:off x="2121358" y="2546498"/>
            <a:ext cx="1331697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Primary Goal</a:t>
            </a:r>
          </a:p>
          <a:p>
            <a:pPr>
              <a:buNone/>
            </a:pPr>
            <a:r>
              <a:rPr lang="en-IN" sz="3200" dirty="0"/>
              <a:t>Develop an accessible examination system that allows visually impaired students to answer MCQ examinations independently.</a:t>
            </a:r>
          </a:p>
          <a:p>
            <a:pPr>
              <a:buNone/>
            </a:pPr>
            <a:endParaRPr lang="en-IN" sz="3200" dirty="0"/>
          </a:p>
          <a:p>
            <a:pPr>
              <a:buNone/>
            </a:pPr>
            <a:r>
              <a:rPr lang="en-IN" sz="3200" b="1" dirty="0"/>
              <a:t>Secondary Goals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Reduce dependence on scribes.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Improve examination accuracy.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Enhance accessibility in education.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Support digital examination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Promote inclusive education.</a:t>
            </a:r>
          </a:p>
        </p:txBody>
      </p:sp>
    </p:spTree>
    <p:extLst>
      <p:ext uri="{BB962C8B-B14F-4D97-AF65-F5344CB8AC3E}">
        <p14:creationId xmlns:p14="http://schemas.microsoft.com/office/powerpoint/2010/main" val="294764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-412663" y="659355"/>
            <a:ext cx="17978946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IN" sz="5400" dirty="0">
                <a:latin typeface="Alice" panose="020B0604020202020204" charset="0"/>
              </a:rPr>
              <a:t>EXISTING SYSTEM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150558-6536-6C3A-A785-DF43A665DF33}"/>
              </a:ext>
            </a:extLst>
          </p:cNvPr>
          <p:cNvSpPr txBox="1"/>
          <p:nvPr/>
        </p:nvSpPr>
        <p:spPr>
          <a:xfrm>
            <a:off x="1300504" y="1721481"/>
            <a:ext cx="13151726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Current examination methods include:</a:t>
            </a:r>
          </a:p>
          <a:p>
            <a:pPr>
              <a:buNone/>
            </a:pPr>
            <a:r>
              <a:rPr lang="en-IN" sz="2400" b="1" dirty="0"/>
              <a:t>Human Scribe</a:t>
            </a:r>
          </a:p>
          <a:p>
            <a:pPr>
              <a:buNone/>
            </a:pPr>
            <a:r>
              <a:rPr lang="en-IN" sz="2400" dirty="0"/>
              <a:t>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Easy to arrange (sometimes)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No electronic device required </a:t>
            </a:r>
          </a:p>
          <a:p>
            <a:pPr>
              <a:buNone/>
            </a:pPr>
            <a:r>
              <a:rPr lang="en-IN" sz="2400" dirty="0"/>
              <a:t>Disadvantages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Human errors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Privacy issues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Availability problems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Student depends on another person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Communication misunderstandings </a:t>
            </a:r>
          </a:p>
          <a:p>
            <a:pPr>
              <a:buNone/>
            </a:pPr>
            <a:r>
              <a:rPr lang="en-IN" sz="2400" b="1" dirty="0"/>
              <a:t>Computer-Based Screen Reader</a:t>
            </a:r>
          </a:p>
          <a:p>
            <a:pPr>
              <a:buNone/>
            </a:pPr>
            <a:r>
              <a:rPr lang="en-IN" sz="2400" dirty="0"/>
              <a:t>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Audio assistance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Faster operation </a:t>
            </a:r>
          </a:p>
          <a:p>
            <a:pPr>
              <a:buNone/>
            </a:pPr>
            <a:r>
              <a:rPr lang="en-IN" sz="2400" dirty="0"/>
              <a:t>Disadvantages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Expensive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Requires computer skills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Not available in every examination </a:t>
            </a:r>
            <a:r>
              <a:rPr lang="en-IN" sz="2400" dirty="0" err="1"/>
              <a:t>center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Internet/computer dependency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500375" y="1272899"/>
            <a:ext cx="17787625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APPLICATIONS OF PROJECT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679B8D-03E5-E36E-A72F-7BC185653AD4}"/>
              </a:ext>
            </a:extLst>
          </p:cNvPr>
          <p:cNvSpPr txBox="1"/>
          <p:nvPr/>
        </p:nvSpPr>
        <p:spPr>
          <a:xfrm>
            <a:off x="1905000" y="3340307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• School &amp; college examinations</a:t>
            </a:r>
            <a:br>
              <a:rPr lang="en-US" sz="4400" dirty="0"/>
            </a:br>
            <a:r>
              <a:rPr lang="en-US" sz="4400" dirty="0"/>
              <a:t>• Competitive exams for disabled students</a:t>
            </a:r>
            <a:br>
              <a:rPr lang="en-US" sz="4400" dirty="0"/>
            </a:br>
            <a:r>
              <a:rPr lang="en-US" sz="4400" dirty="0"/>
              <a:t>• Government inclusive education programs</a:t>
            </a:r>
            <a:br>
              <a:rPr lang="en-US" sz="4400" dirty="0"/>
            </a:br>
            <a:r>
              <a:rPr lang="en-US" sz="4400" dirty="0"/>
              <a:t>• Rural education centers</a:t>
            </a:r>
            <a:br>
              <a:rPr lang="en-US" sz="4400" dirty="0"/>
            </a:br>
            <a:r>
              <a:rPr lang="en-US" sz="4400" dirty="0"/>
              <a:t>• Special needs institutions</a:t>
            </a:r>
            <a:endParaRPr lang="en-IN" sz="4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7C793D-E92A-E809-F543-458851ABF306}"/>
              </a:ext>
            </a:extLst>
          </p:cNvPr>
          <p:cNvSpPr txBox="1"/>
          <p:nvPr/>
        </p:nvSpPr>
        <p:spPr>
          <a:xfrm>
            <a:off x="3643728" y="8015817"/>
            <a:ext cx="9266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3600" dirty="0">
              <a:solidFill>
                <a:srgbClr val="2C6C4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5B63E88-4578-D3A9-F663-A80F839BDD63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E4EF4E5-D9E9-55EF-9333-28B79C727401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CB623AD8-F448-8818-A096-A62A20B30C55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FDE3CC35-35ED-CC23-213C-5A7DFE43729F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E86B6BF-2C14-2C20-3ED9-AAD965B5DB17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D742779B-7776-DBA5-A0E3-FC068681332F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A8A1B773-BF61-DC28-6061-C50FBFA7E806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FAD1790-95EC-0EA6-7078-72A6157DE367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7C7D0933-B46D-3601-C84C-56C3797F1D58}"/>
              </a:ext>
            </a:extLst>
          </p:cNvPr>
          <p:cNvGrpSpPr/>
          <p:nvPr/>
        </p:nvGrpSpPr>
        <p:grpSpPr>
          <a:xfrm>
            <a:off x="-12232" y="6450250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263A10F-412A-82DE-199F-29D6296D9DA9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31F1844-708B-F071-44C7-FB6D5AE09B32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F952AC08-1D69-018A-5327-FB610EA0A7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315BA1AB-F7D6-8AB5-08A4-1A7B3836BF5B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A40D765-E2B5-C909-AAB0-6DB69712FF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CF76C07C-29C6-61B0-33E7-0205F737C6E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28DA43E-4DDC-F5CB-D805-EB40525700AE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ADE1989-D15E-CE60-0670-24DFF4A339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FB55E6C-633B-ECD3-E729-76E3E0392107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6A6A0C42-06CF-E9FF-E661-2E456E3D3C93}"/>
              </a:ext>
            </a:extLst>
          </p:cNvPr>
          <p:cNvSpPr txBox="1"/>
          <p:nvPr/>
        </p:nvSpPr>
        <p:spPr>
          <a:xfrm>
            <a:off x="1815748" y="832155"/>
            <a:ext cx="13960198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Proposed System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B0BC77-489C-619C-1B6F-1907D59FB3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948" y="2832802"/>
            <a:ext cx="8116211" cy="481978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0D73E2E-1133-51A0-AE09-A2C153651CB5}"/>
              </a:ext>
            </a:extLst>
          </p:cNvPr>
          <p:cNvSpPr txBox="1"/>
          <p:nvPr/>
        </p:nvSpPr>
        <p:spPr>
          <a:xfrm>
            <a:off x="3028950" y="388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BE35BA-4849-0038-F302-B0E1C72388EA}"/>
              </a:ext>
            </a:extLst>
          </p:cNvPr>
          <p:cNvSpPr txBox="1"/>
          <p:nvPr/>
        </p:nvSpPr>
        <p:spPr>
          <a:xfrm>
            <a:off x="2057400" y="1800868"/>
            <a:ext cx="9153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Workflow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50BB2-42D0-0F24-D604-21A3E54FD9FB}"/>
              </a:ext>
            </a:extLst>
          </p:cNvPr>
          <p:cNvSpPr txBox="1"/>
          <p:nvPr/>
        </p:nvSpPr>
        <p:spPr>
          <a:xfrm>
            <a:off x="1771840" y="2794753"/>
            <a:ext cx="100761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Teacher uploads MCQ questions.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ESP32 controls the entire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DFPlayer</a:t>
            </a:r>
            <a:r>
              <a:rPr lang="en-IN" sz="2400" dirty="0"/>
              <a:t> Mini plays question audio.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Student listens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Question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Option 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Option 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Option 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Option 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Student presses answer button.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OLED displays selected option.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Answer is stored.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is sent via Wi-Fi to teacher/server.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Final score/report is generated.</a:t>
            </a:r>
          </a:p>
        </p:txBody>
      </p:sp>
    </p:spTree>
    <p:extLst>
      <p:ext uri="{BB962C8B-B14F-4D97-AF65-F5344CB8AC3E}">
        <p14:creationId xmlns:p14="http://schemas.microsoft.com/office/powerpoint/2010/main" val="73429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7BA4458-5CE9-E837-5F33-8849F385A01C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B3D218B7-254E-98BD-C58B-F23C04D4BF45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B13BF282-FA2E-A55F-910F-88D63A878685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0677D089-85CB-011A-F78A-6FCCE87F111F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C1DF474-78BF-131D-360C-B937F328E3FF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B19C1A5B-8CC1-DFCB-B958-E8C3C035CA62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FFCF2191-91FF-618F-02D3-C28509578308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88FD4DC-7E31-2245-A2F2-EE1B799C23F7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08922C00-81B6-2FE6-9B02-A4B081075847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F4B1BCD-6044-89DC-2ADA-BC19E2C32058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3CE3231-C473-57F9-C921-C9D187BB07C2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94C014AD-092B-CEF8-6158-8E0523082B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48A92EFD-EBBA-3D1B-F425-651B8124BDA1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9B5311-9AC7-ECFD-E237-6176219FC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E8D885E8-D95E-B5D8-84A1-0AF84B265ED9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FA07636-8A20-30DE-4432-EFBE59A311F5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6C94316-45E3-8ABC-DE02-1A6878C792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9E156FC-8BEA-921D-380E-8CEA9B7CB940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A2C90CFA-D9E4-0927-1E7F-DD83C9B6C683}"/>
              </a:ext>
            </a:extLst>
          </p:cNvPr>
          <p:cNvSpPr txBox="1"/>
          <p:nvPr/>
        </p:nvSpPr>
        <p:spPr>
          <a:xfrm>
            <a:off x="-321710" y="166152"/>
            <a:ext cx="1827328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IN" sz="5400" dirty="0">
                <a:solidFill>
                  <a:srgbClr val="000000"/>
                </a:solidFill>
                <a:latin typeface="Alice" panose="020B0604020202020204" charset="0"/>
                <a:ea typeface="Alice"/>
                <a:cs typeface="Alice"/>
                <a:sym typeface="Alice"/>
              </a:rPr>
              <a:t>Research Paper Study 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52F8C92-E5D8-C681-F192-ED9AF7028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4272BD-E2B3-DD26-8E24-FFD9278F302B}"/>
              </a:ext>
            </a:extLst>
          </p:cNvPr>
          <p:cNvSpPr txBox="1"/>
          <p:nvPr/>
        </p:nvSpPr>
        <p:spPr>
          <a:xfrm>
            <a:off x="1675514" y="1371113"/>
            <a:ext cx="1073164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Paper 1 (2025)</a:t>
            </a:r>
          </a:p>
          <a:p>
            <a:r>
              <a:rPr lang="en-IN" sz="2400" b="1" dirty="0"/>
              <a:t>Title:</a:t>
            </a:r>
            <a:r>
              <a:rPr lang="en-IN" sz="2400" dirty="0"/>
              <a:t> </a:t>
            </a:r>
            <a:r>
              <a:rPr lang="en-IN" sz="2400" i="1" dirty="0"/>
              <a:t>Assistive Technologies for the Visually Impaired: A Review</a:t>
            </a:r>
            <a:endParaRPr lang="en-IN" sz="2400" dirty="0"/>
          </a:p>
          <a:p>
            <a:r>
              <a:rPr lang="en-IN" sz="2400" b="1" dirty="0"/>
              <a:t>Authors:</a:t>
            </a:r>
            <a:r>
              <a:rPr lang="en-IN" sz="2400" dirty="0"/>
              <a:t> Farzad Cheraghpour </a:t>
            </a:r>
            <a:r>
              <a:rPr lang="en-IN" sz="2400" dirty="0" err="1"/>
              <a:t>Samavati</a:t>
            </a:r>
            <a:r>
              <a:rPr lang="en-IN" sz="2400" dirty="0"/>
              <a:t>, Ali Rahimi Ghasem Abadi</a:t>
            </a:r>
          </a:p>
          <a:p>
            <a:r>
              <a:rPr lang="en-IN" sz="2400" b="1" dirty="0"/>
              <a:t>Journal:</a:t>
            </a:r>
            <a:r>
              <a:rPr lang="en-IN" sz="2400" dirty="0"/>
              <a:t> </a:t>
            </a:r>
            <a:r>
              <a:rPr lang="en-IN" sz="2400" i="1" dirty="0" err="1"/>
              <a:t>Cureus</a:t>
            </a:r>
            <a:r>
              <a:rPr lang="en-IN" sz="2400" i="1" dirty="0"/>
              <a:t> Journal of Computer Science</a:t>
            </a:r>
            <a:r>
              <a:rPr lang="en-IN" sz="2400" dirty="0"/>
              <a:t> (2025)</a:t>
            </a:r>
          </a:p>
          <a:p>
            <a:r>
              <a:rPr lang="en-IN" sz="2400" b="1" dirty="0"/>
              <a:t>DOI:</a:t>
            </a:r>
            <a:r>
              <a:rPr lang="en-IN" sz="2400" dirty="0"/>
              <a:t> 10.7759/s44389-025-06891-1</a:t>
            </a:r>
          </a:p>
          <a:p>
            <a:r>
              <a:rPr lang="en-IN" sz="2400" b="1" dirty="0"/>
              <a:t>Objective</a:t>
            </a:r>
          </a:p>
          <a:p>
            <a:pPr lvl="0"/>
            <a:r>
              <a:rPr lang="en-IN" sz="2400" dirty="0"/>
              <a:t>Reviews AI-powered assistive technologies for visually impaired users. </a:t>
            </a:r>
          </a:p>
          <a:p>
            <a:pPr lvl="0"/>
            <a:r>
              <a:rPr lang="en-IN" sz="2400" dirty="0"/>
              <a:t>Focuses on speech interfaces, multimodal interaction, wearable devices, and accessibility. </a:t>
            </a:r>
          </a:p>
          <a:p>
            <a:r>
              <a:rPr lang="en-IN" sz="2400" b="1" dirty="0"/>
              <a:t>Key Findings</a:t>
            </a:r>
          </a:p>
          <a:p>
            <a:pPr lvl="0"/>
            <a:r>
              <a:rPr lang="en-IN" sz="2400" dirty="0"/>
              <a:t>Audio and multimodal interfaces improve accessibility. </a:t>
            </a:r>
          </a:p>
          <a:p>
            <a:pPr lvl="0"/>
            <a:r>
              <a:rPr lang="en-IN" sz="2400" dirty="0"/>
              <a:t>Low-cost, offline assistive devices are needed. </a:t>
            </a:r>
          </a:p>
          <a:p>
            <a:pPr lvl="0"/>
            <a:r>
              <a:rPr lang="en-IN" sz="2400" dirty="0"/>
              <a:t>User-friendly interfaces increase technology adoption. </a:t>
            </a:r>
          </a:p>
          <a:p>
            <a:pPr lvl="0"/>
            <a:r>
              <a:rPr lang="en-IN" sz="2400" dirty="0"/>
              <a:t>AI, IoT, speech processing, and multimodal feedback are emerging trends. </a:t>
            </a:r>
          </a:p>
          <a:p>
            <a:r>
              <a:rPr lang="en-IN" sz="2400" b="1" dirty="0"/>
              <a:t>Relation to Our Project</a:t>
            </a:r>
          </a:p>
          <a:p>
            <a:r>
              <a:rPr lang="en-IN" sz="2400" dirty="0"/>
              <a:t>Supports the </a:t>
            </a:r>
            <a:r>
              <a:rPr lang="en-IN" sz="2400" b="1" dirty="0"/>
              <a:t>IoT Scribe System for Visually Impaired Students</a:t>
            </a:r>
            <a:r>
              <a:rPr lang="en-IN" sz="2400" dirty="0"/>
              <a:t> by recommending </a:t>
            </a:r>
            <a:r>
              <a:rPr lang="en-IN" sz="2400" b="1" dirty="0"/>
              <a:t>audio guidance, affordable ESP32-based hardware, and IoT-enabled assistive technology</a:t>
            </a:r>
            <a:r>
              <a:rPr lang="en-IN" sz="2400" dirty="0"/>
              <a:t> for independent examination support.</a:t>
            </a:r>
          </a:p>
          <a:p>
            <a:r>
              <a:rPr lang="en-IN" sz="2400" b="1" dirty="0"/>
              <a:t>Paper Link</a:t>
            </a:r>
          </a:p>
          <a:p>
            <a:r>
              <a:rPr lang="en-IN" sz="2400" dirty="0"/>
              <a:t>🔗 </a:t>
            </a:r>
            <a:r>
              <a:rPr lang="en-IN" sz="2400" b="1" dirty="0"/>
              <a:t>https://doi.org/10.7759/s44389-025-06891-1</a:t>
            </a:r>
            <a:endParaRPr lang="en-IN" sz="2400" dirty="0"/>
          </a:p>
          <a:p>
            <a:r>
              <a:rPr lang="en-IN" sz="2400" dirty="0"/>
              <a:t>or</a:t>
            </a:r>
          </a:p>
          <a:p>
            <a:r>
              <a:rPr lang="en-IN" sz="2400" dirty="0"/>
              <a:t>🔗 </a:t>
            </a:r>
            <a:r>
              <a:rPr lang="en-IN" sz="2400" b="1" dirty="0"/>
              <a:t>https://www.cureus.com/articles/44389-assistive-technologies-for-the-visually-impaired-a-review</a:t>
            </a:r>
            <a:endParaRPr lang="en-IN" sz="2400" dirty="0"/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1525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>
            <a:extLst>
              <a:ext uri="{FF2B5EF4-FFF2-40B4-BE49-F238E27FC236}">
                <a16:creationId xmlns:a16="http://schemas.microsoft.com/office/drawing/2014/main" id="{AC000508-75A4-DE52-9D97-F0804704AD00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DB58BE60-ED3F-59C6-90DD-706527C123CA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8" name="Freeform 4">
            <a:extLst>
              <a:ext uri="{FF2B5EF4-FFF2-40B4-BE49-F238E27FC236}">
                <a16:creationId xmlns:a16="http://schemas.microsoft.com/office/drawing/2014/main" id="{8B0D9D61-DE0D-F356-3C1F-B67DE750B804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5">
            <a:extLst>
              <a:ext uri="{FF2B5EF4-FFF2-40B4-BE49-F238E27FC236}">
                <a16:creationId xmlns:a16="http://schemas.microsoft.com/office/drawing/2014/main" id="{4C6B9691-D26A-0262-AE81-554379C6FB89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BED75DE4-1498-2A01-2574-8D18FA041DDD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31" name="Freeform 7">
            <a:extLst>
              <a:ext uri="{FF2B5EF4-FFF2-40B4-BE49-F238E27FC236}">
                <a16:creationId xmlns:a16="http://schemas.microsoft.com/office/drawing/2014/main" id="{B8BC6F70-6248-7E73-F8D3-8E65BE4FB018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CA084928-3D57-E8DA-224F-11B4A9E4E550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4619090D-C9B0-C2FA-7FFB-6CCAC21642B6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34" name="Group 10">
            <a:extLst>
              <a:ext uri="{FF2B5EF4-FFF2-40B4-BE49-F238E27FC236}">
                <a16:creationId xmlns:a16="http://schemas.microsoft.com/office/drawing/2014/main" id="{56CF7BB1-3B9A-67DF-C1A2-FBFA6A553B56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FDAA7A81-CC5D-8FF4-E224-50D39FE943A5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D63A13D8-F851-4E82-C17D-F6285539200B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A3295628-589F-DCF3-1421-236C4A1B5DE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43" name="Freeform 14">
                <a:extLst>
                  <a:ext uri="{FF2B5EF4-FFF2-40B4-BE49-F238E27FC236}">
                    <a16:creationId xmlns:a16="http://schemas.microsoft.com/office/drawing/2014/main" id="{ED79AD66-B8C7-9474-E2D4-25782E769EED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574AC56-2314-CDAC-FC1D-B9B2BFCC2A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42" name="Freeform 16">
                <a:extLst>
                  <a:ext uri="{FF2B5EF4-FFF2-40B4-BE49-F238E27FC236}">
                    <a16:creationId xmlns:a16="http://schemas.microsoft.com/office/drawing/2014/main" id="{89795695-A711-7732-3A39-92EBF67B54D7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25DB2FDD-F57D-1CDE-48CA-7B35C8B7C081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0" name="Group 18">
              <a:extLst>
                <a:ext uri="{FF2B5EF4-FFF2-40B4-BE49-F238E27FC236}">
                  <a16:creationId xmlns:a16="http://schemas.microsoft.com/office/drawing/2014/main" id="{983F2FFC-7E35-A1E4-2B4A-A91D88A635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87C6477A-2C81-D9FB-0C20-566B6DB32290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44" name="TextBox 20">
            <a:extLst>
              <a:ext uri="{FF2B5EF4-FFF2-40B4-BE49-F238E27FC236}">
                <a16:creationId xmlns:a16="http://schemas.microsoft.com/office/drawing/2014/main" id="{81F84F92-792E-71EF-4FC8-82E1FC5036CA}"/>
              </a:ext>
            </a:extLst>
          </p:cNvPr>
          <p:cNvSpPr txBox="1"/>
          <p:nvPr/>
        </p:nvSpPr>
        <p:spPr>
          <a:xfrm>
            <a:off x="-457200" y="95082"/>
            <a:ext cx="1827328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IN" sz="5400" dirty="0">
                <a:solidFill>
                  <a:srgbClr val="000000"/>
                </a:solidFill>
                <a:latin typeface="Alice" panose="020B0604020202020204" charset="0"/>
                <a:ea typeface="Alice"/>
                <a:cs typeface="Alice"/>
                <a:sym typeface="Alice"/>
              </a:rPr>
              <a:t>Research Paper Study 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5FD2308A-CA15-17A9-2D90-59A298176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E0A977-A439-BE69-D88B-AAAE1D5DF6C5}"/>
              </a:ext>
            </a:extLst>
          </p:cNvPr>
          <p:cNvSpPr txBox="1"/>
          <p:nvPr/>
        </p:nvSpPr>
        <p:spPr>
          <a:xfrm>
            <a:off x="1676400" y="1387199"/>
            <a:ext cx="1073164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Paper 2 (2026)</a:t>
            </a:r>
          </a:p>
          <a:p>
            <a:r>
              <a:rPr lang="en-IN" sz="2400" b="1" dirty="0"/>
              <a:t>Title:</a:t>
            </a:r>
            <a:r>
              <a:rPr lang="en-IN" sz="2400" dirty="0"/>
              <a:t> </a:t>
            </a:r>
            <a:r>
              <a:rPr lang="en-IN" sz="2400" i="1" dirty="0"/>
              <a:t>IoT-powered Wearable Assist Device for Visually Impaired</a:t>
            </a:r>
            <a:endParaRPr lang="en-IN" sz="2400" dirty="0"/>
          </a:p>
          <a:p>
            <a:r>
              <a:rPr lang="en-IN" sz="2400" b="1" dirty="0"/>
              <a:t>Authors:</a:t>
            </a:r>
            <a:r>
              <a:rPr lang="en-IN" sz="2400" dirty="0"/>
              <a:t> Lokesh S., Sukesh P., Tejaswini S., Meera M., Udhayakumar G.</a:t>
            </a:r>
          </a:p>
          <a:p>
            <a:r>
              <a:rPr lang="en-IN" sz="2400" b="1" dirty="0"/>
              <a:t>Journal:</a:t>
            </a:r>
            <a:r>
              <a:rPr lang="en-IN" sz="2400" dirty="0"/>
              <a:t> </a:t>
            </a:r>
            <a:r>
              <a:rPr lang="en-IN" sz="2400" i="1" dirty="0"/>
              <a:t>Disability and Rehabilitation: Assistive Technology</a:t>
            </a:r>
            <a:r>
              <a:rPr lang="en-IN" sz="2400" dirty="0"/>
              <a:t> (2026)</a:t>
            </a:r>
          </a:p>
          <a:p>
            <a:r>
              <a:rPr lang="en-IN" sz="2400" b="1" dirty="0"/>
              <a:t>DOI:</a:t>
            </a:r>
            <a:r>
              <a:rPr lang="en-IN" sz="2400" dirty="0"/>
              <a:t> 10.1080/17483107.2025.2582033</a:t>
            </a:r>
          </a:p>
          <a:p>
            <a:r>
              <a:rPr lang="en-IN" sz="2400" b="1" dirty="0"/>
              <a:t>Objective</a:t>
            </a:r>
          </a:p>
          <a:p>
            <a:pPr lvl="0"/>
            <a:r>
              <a:rPr lang="en-IN" sz="2400" dirty="0"/>
              <a:t>Develops an </a:t>
            </a:r>
            <a:r>
              <a:rPr lang="en-IN" sz="2400" b="1" dirty="0"/>
              <a:t>IoT-enabled wearable assistive device</a:t>
            </a:r>
            <a:r>
              <a:rPr lang="en-IN" sz="2400" dirty="0"/>
              <a:t> for visually impaired users. </a:t>
            </a:r>
          </a:p>
          <a:p>
            <a:pPr lvl="0"/>
            <a:r>
              <a:rPr lang="en-IN" sz="2400" dirty="0"/>
              <a:t>Integrates </a:t>
            </a:r>
            <a:r>
              <a:rPr lang="en-IN" sz="2400" b="1" dirty="0"/>
              <a:t>ESP32-CAM, ultrasonic sensors, object detection, and voice feedback</a:t>
            </a:r>
            <a:r>
              <a:rPr lang="en-IN" sz="2400" dirty="0"/>
              <a:t> to improve mobility and environmental awareness. </a:t>
            </a:r>
          </a:p>
          <a:p>
            <a:r>
              <a:rPr lang="en-IN" sz="2400" b="1" dirty="0"/>
              <a:t>Key Findings</a:t>
            </a:r>
          </a:p>
          <a:p>
            <a:pPr lvl="0"/>
            <a:r>
              <a:rPr lang="en-IN" sz="2400" dirty="0"/>
              <a:t>IoT-based wearable devices improve mobility and independence. </a:t>
            </a:r>
          </a:p>
          <a:p>
            <a:pPr lvl="0"/>
            <a:r>
              <a:rPr lang="en-IN" sz="2400" dirty="0"/>
              <a:t>Real-time object detection and voice feedback enhance accessibility and safety. </a:t>
            </a:r>
          </a:p>
          <a:p>
            <a:pPr lvl="0"/>
            <a:r>
              <a:rPr lang="en-IN" sz="2400" dirty="0"/>
              <a:t>ESP32-CAM with ultrasonic sensors provides a low-cost and efficient assistive solution. </a:t>
            </a:r>
          </a:p>
          <a:p>
            <a:pPr lvl="0"/>
            <a:r>
              <a:rPr lang="en-IN" sz="2400" dirty="0"/>
              <a:t>Achieved </a:t>
            </a:r>
            <a:r>
              <a:rPr lang="en-IN" sz="2400" b="1" dirty="0"/>
              <a:t>over 90% recognition accuracy</a:t>
            </a:r>
            <a:r>
              <a:rPr lang="en-IN" sz="2400" dirty="0"/>
              <a:t> with low computational latency. </a:t>
            </a:r>
          </a:p>
          <a:p>
            <a:r>
              <a:rPr lang="en-IN" sz="2400" b="1" dirty="0"/>
              <a:t>Relation to Our Project</a:t>
            </a:r>
          </a:p>
          <a:p>
            <a:r>
              <a:rPr lang="en-IN" sz="2400" dirty="0"/>
              <a:t>Supports the proposed </a:t>
            </a:r>
            <a:r>
              <a:rPr lang="en-IN" sz="2400" b="1" dirty="0"/>
              <a:t>IoT Scribe System for Visually Impaired Students</a:t>
            </a:r>
            <a:r>
              <a:rPr lang="en-IN" sz="2400" dirty="0"/>
              <a:t> by validating the use of </a:t>
            </a:r>
            <a:r>
              <a:rPr lang="en-IN" sz="2400" b="1" dirty="0"/>
              <a:t>ESP32-based IoT hardware, audio guidance, and affordable embedded systems</a:t>
            </a:r>
            <a:r>
              <a:rPr lang="en-IN" sz="2400" dirty="0"/>
              <a:t> to improve accessibility and independence during examinations.</a:t>
            </a:r>
          </a:p>
          <a:p>
            <a:r>
              <a:rPr lang="en-IN" sz="2400" b="1" dirty="0"/>
              <a:t>Paper Link</a:t>
            </a:r>
          </a:p>
          <a:p>
            <a:r>
              <a:rPr lang="en-IN" sz="2400" dirty="0"/>
              <a:t>🔗 </a:t>
            </a:r>
            <a:r>
              <a:rPr lang="en-IN" sz="2400" b="1" dirty="0">
                <a:hlinkClick r:id="rId10"/>
              </a:rPr>
              <a:t>https://pubmed.ncbi.nlm.nih.gov/41182323/</a:t>
            </a:r>
            <a:endParaRPr lang="en-IN" sz="2400" dirty="0"/>
          </a:p>
          <a:p>
            <a:r>
              <a:rPr lang="en-IN" sz="2400" dirty="0"/>
              <a:t>or</a:t>
            </a:r>
          </a:p>
          <a:p>
            <a:r>
              <a:rPr lang="en-IN" sz="2400" dirty="0"/>
              <a:t>🔗 </a:t>
            </a:r>
            <a:r>
              <a:rPr lang="en-IN" sz="2400" b="1" dirty="0">
                <a:hlinkClick r:id="rId11"/>
              </a:rPr>
              <a:t>https://doi.org/10.1080/17483107.2025.2582033</a:t>
            </a:r>
            <a:endParaRPr lang="en-IN" sz="2400" dirty="0"/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928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BA28A21-A803-8829-690C-67752FB30EE6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822EF997-178C-4CF9-95EF-A43F202C74E3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40D4EC74-608F-3878-621A-43A4E6A4E43F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DC4A6645-497A-76EF-0006-8FE7380025FA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65D4CC7-EF31-F670-9D20-895C8C71F383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11" name="Freeform 7">
            <a:extLst>
              <a:ext uri="{FF2B5EF4-FFF2-40B4-BE49-F238E27FC236}">
                <a16:creationId xmlns:a16="http://schemas.microsoft.com/office/drawing/2014/main" id="{8566FE6F-FC92-4359-1102-5888EFD96B01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EA798692-F848-B4CA-0B01-825243B76562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5027191E-4602-9C9C-690F-55CEAA453026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4" name="Group 10">
            <a:extLst>
              <a:ext uri="{FF2B5EF4-FFF2-40B4-BE49-F238E27FC236}">
                <a16:creationId xmlns:a16="http://schemas.microsoft.com/office/drawing/2014/main" id="{350DCA1F-69B3-F6F3-10A9-BFA7086E20C7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720DD034-888D-B04A-EEF5-21FAEE5B3DC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9CD473FD-85FC-0837-39EF-968FC1E809CE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3">
              <a:extLst>
                <a:ext uri="{FF2B5EF4-FFF2-40B4-BE49-F238E27FC236}">
                  <a16:creationId xmlns:a16="http://schemas.microsoft.com/office/drawing/2014/main" id="{3B4CA049-6843-A0E6-61CA-67883C9210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FD2C30A0-B549-87C9-3B80-C789DC67D4E9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8" name="Group 15">
              <a:extLst>
                <a:ext uri="{FF2B5EF4-FFF2-40B4-BE49-F238E27FC236}">
                  <a16:creationId xmlns:a16="http://schemas.microsoft.com/office/drawing/2014/main" id="{3E0384DF-9729-F2B6-F3C9-1907AB3A78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1401FDA0-B22B-CB54-C70F-F24BD9113E9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C829D5A-2D9D-4633-50FD-09B2661C3E31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511235CF-06F3-A10B-322F-F25805B375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21" name="Freeform 19">
                <a:extLst>
                  <a:ext uri="{FF2B5EF4-FFF2-40B4-BE49-F238E27FC236}">
                    <a16:creationId xmlns:a16="http://schemas.microsoft.com/office/drawing/2014/main" id="{195EDCFF-893F-B280-AF7C-D2C678FA80A6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4BEC3C3-0ED0-77E0-44C7-29BD4E307034}"/>
              </a:ext>
            </a:extLst>
          </p:cNvPr>
          <p:cNvSpPr txBox="1"/>
          <p:nvPr/>
        </p:nvSpPr>
        <p:spPr>
          <a:xfrm>
            <a:off x="3896409" y="3693901"/>
            <a:ext cx="1049518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600" dirty="0">
                <a:latin typeface="Alice" panose="020B060402020202020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4682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785</Words>
  <Application>Microsoft Office PowerPoint</Application>
  <PresentationFormat>Custom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Alice</vt:lpstr>
      <vt:lpstr>Calibri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</dc:title>
  <dc:creator>Sarika Tiwari</dc:creator>
  <cp:lastModifiedBy>OM MALLEPELLI</cp:lastModifiedBy>
  <cp:revision>13</cp:revision>
  <dcterms:created xsi:type="dcterms:W3CDTF">2006-08-16T00:00:00Z</dcterms:created>
  <dcterms:modified xsi:type="dcterms:W3CDTF">2026-07-31T17:12:45Z</dcterms:modified>
  <dc:identifier>DAG3DFHr7qI</dc:identifier>
</cp:coreProperties>
</file>