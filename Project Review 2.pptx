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9" r:id="rId3"/>
    <p:sldId id="266" r:id="rId4"/>
    <p:sldId id="258" r:id="rId5"/>
    <p:sldId id="267" r:id="rId6"/>
    <p:sldId id="260" r:id="rId7"/>
    <p:sldId id="265" r:id="rId8"/>
    <p:sldId id="268" r:id="rId9"/>
    <p:sldId id="269" r:id="rId10"/>
    <p:sldId id="270" r:id="rId11"/>
  </p:sldIdLst>
  <p:sldSz cx="18288000" cy="10287000"/>
  <p:notesSz cx="6858000" cy="9144000"/>
  <p:embeddedFontLst>
    <p:embeddedFont>
      <p:font typeface="Alice" panose="020B0604020202020204" charset="0"/>
      <p:regular r:id="rId12"/>
    </p:embeddedFont>
    <p:embeddedFont>
      <p:font typeface="Arial Black" panose="020B0A04020102020204" pitchFamily="34" charset="0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6C4D"/>
    <a:srgbClr val="FFFF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6115F9-4F86-4ECA-962B-D258AFEA8C78}" v="10" dt="2026-10-02T10:21:17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1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 MALLEPELLI" userId="bd6b0d0788565c49" providerId="LiveId" clId="{2D08A2C5-2667-4512-ADE6-2895F2FABF60}"/>
    <pc:docChg chg="undo custSel addSld delSld modSld">
      <pc:chgData name="OM MALLEPELLI" userId="bd6b0d0788565c49" providerId="LiveId" clId="{2D08A2C5-2667-4512-ADE6-2895F2FABF60}" dt="2026-10-02T10:23:01.822" v="334" actId="1076"/>
      <pc:docMkLst>
        <pc:docMk/>
      </pc:docMkLst>
      <pc:sldChg chg="modSp mod">
        <pc:chgData name="OM MALLEPELLI" userId="bd6b0d0788565c49" providerId="LiveId" clId="{2D08A2C5-2667-4512-ADE6-2895F2FABF60}" dt="2026-10-02T10:04:08.380" v="46" actId="20577"/>
        <pc:sldMkLst>
          <pc:docMk/>
          <pc:sldMk cId="0" sldId="257"/>
        </pc:sldMkLst>
        <pc:spChg chg="mod">
          <ac:chgData name="OM MALLEPELLI" userId="bd6b0d0788565c49" providerId="LiveId" clId="{2D08A2C5-2667-4512-ADE6-2895F2FABF60}" dt="2026-10-02T10:04:08.380" v="46" actId="20577"/>
          <ac:spMkLst>
            <pc:docMk/>
            <pc:sldMk cId="0" sldId="257"/>
            <ac:spMk id="31" creationId="{FEA52F4C-5427-A3AB-702C-C8DE7CF494AE}"/>
          </ac:spMkLst>
        </pc:spChg>
      </pc:sldChg>
      <pc:sldChg chg="addSp delSp modSp mod">
        <pc:chgData name="OM MALLEPELLI" userId="bd6b0d0788565c49" providerId="LiveId" clId="{2D08A2C5-2667-4512-ADE6-2895F2FABF60}" dt="2026-10-02T10:13:02.336" v="121" actId="1076"/>
        <pc:sldMkLst>
          <pc:docMk/>
          <pc:sldMk cId="0" sldId="258"/>
        </pc:sldMkLst>
        <pc:spChg chg="del mod">
          <ac:chgData name="OM MALLEPELLI" userId="bd6b0d0788565c49" providerId="LiveId" clId="{2D08A2C5-2667-4512-ADE6-2895F2FABF60}" dt="2026-10-02T10:11:12.124" v="99"/>
          <ac:spMkLst>
            <pc:docMk/>
            <pc:sldMk cId="0" sldId="258"/>
            <ac:spMk id="23" creationId="{B29E1B9C-F809-1B62-5C26-E7C8BC1FA801}"/>
          </ac:spMkLst>
        </pc:spChg>
        <pc:picChg chg="add del mod">
          <ac:chgData name="OM MALLEPELLI" userId="bd6b0d0788565c49" providerId="LiveId" clId="{2D08A2C5-2667-4512-ADE6-2895F2FABF60}" dt="2026-10-02T10:11:54.825" v="106" actId="478"/>
          <ac:picMkLst>
            <pc:docMk/>
            <pc:sldMk cId="0" sldId="258"/>
            <ac:picMk id="22" creationId="{0E663E20-A19B-E332-4709-D63B2E6C34AE}"/>
          </ac:picMkLst>
        </pc:picChg>
        <pc:picChg chg="add mod">
          <ac:chgData name="OM MALLEPELLI" userId="bd6b0d0788565c49" providerId="LiveId" clId="{2D08A2C5-2667-4512-ADE6-2895F2FABF60}" dt="2026-10-02T10:13:02.336" v="121" actId="1076"/>
          <ac:picMkLst>
            <pc:docMk/>
            <pc:sldMk cId="0" sldId="258"/>
            <ac:picMk id="25" creationId="{8481B404-450F-246E-D69F-183B7FC98620}"/>
          </ac:picMkLst>
        </pc:picChg>
        <pc:picChg chg="del mod">
          <ac:chgData name="OM MALLEPELLI" userId="bd6b0d0788565c49" providerId="LiveId" clId="{2D08A2C5-2667-4512-ADE6-2895F2FABF60}" dt="2026-10-02T10:11:12.118" v="97" actId="478"/>
          <ac:picMkLst>
            <pc:docMk/>
            <pc:sldMk cId="0" sldId="258"/>
            <ac:picMk id="29" creationId="{4F9108A0-D143-80CC-E7BE-892D15D81463}"/>
          </ac:picMkLst>
        </pc:picChg>
      </pc:sldChg>
      <pc:sldChg chg="addSp delSp modSp mod">
        <pc:chgData name="OM MALLEPELLI" userId="bd6b0d0788565c49" providerId="LiveId" clId="{2D08A2C5-2667-4512-ADE6-2895F2FABF60}" dt="2026-10-02T10:17:55.462" v="251" actId="1076"/>
        <pc:sldMkLst>
          <pc:docMk/>
          <pc:sldMk cId="0" sldId="260"/>
        </pc:sldMkLst>
        <pc:spChg chg="mod">
          <ac:chgData name="OM MALLEPELLI" userId="bd6b0d0788565c49" providerId="LiveId" clId="{2D08A2C5-2667-4512-ADE6-2895F2FABF60}" dt="2026-10-02T10:17:43.342" v="245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OM MALLEPELLI" userId="bd6b0d0788565c49" providerId="LiveId" clId="{2D08A2C5-2667-4512-ADE6-2895F2FABF60}" dt="2026-10-02T10:17:45.223" v="246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OM MALLEPELLI" userId="bd6b0d0788565c49" providerId="LiveId" clId="{2D08A2C5-2667-4512-ADE6-2895F2FABF60}" dt="2026-10-02T10:17:16.341" v="233" actId="20577"/>
          <ac:spMkLst>
            <pc:docMk/>
            <pc:sldMk cId="0" sldId="260"/>
            <ac:spMk id="20" creationId="{00000000-0000-0000-0000-000000000000}"/>
          </ac:spMkLst>
        </pc:spChg>
        <pc:spChg chg="del">
          <ac:chgData name="OM MALLEPELLI" userId="bd6b0d0788565c49" providerId="LiveId" clId="{2D08A2C5-2667-4512-ADE6-2895F2FABF60}" dt="2026-10-02T10:17:24.067" v="234" actId="478"/>
          <ac:spMkLst>
            <pc:docMk/>
            <pc:sldMk cId="0" sldId="260"/>
            <ac:spMk id="24" creationId="{F7150558-6536-6C3A-A785-DF43A665DF33}"/>
          </ac:spMkLst>
        </pc:spChg>
        <pc:picChg chg="add mod">
          <ac:chgData name="OM MALLEPELLI" userId="bd6b0d0788565c49" providerId="LiveId" clId="{2D08A2C5-2667-4512-ADE6-2895F2FABF60}" dt="2026-10-02T10:17:55.462" v="251" actId="1076"/>
          <ac:picMkLst>
            <pc:docMk/>
            <pc:sldMk cId="0" sldId="260"/>
            <ac:picMk id="22" creationId="{A2FB6BD8-7D1D-CFAE-EF0E-485012EE7439}"/>
          </ac:picMkLst>
        </pc:picChg>
      </pc:sldChg>
      <pc:sldChg chg="delSp modSp del mod">
        <pc:chgData name="OM MALLEPELLI" userId="bd6b0d0788565c49" providerId="LiveId" clId="{2D08A2C5-2667-4512-ADE6-2895F2FABF60}" dt="2026-10-02T10:20:32.777" v="280" actId="47"/>
        <pc:sldMkLst>
          <pc:docMk/>
          <pc:sldMk cId="0" sldId="261"/>
        </pc:sldMkLst>
        <pc:spChg chg="del mod">
          <ac:chgData name="OM MALLEPELLI" userId="bd6b0d0788565c49" providerId="LiveId" clId="{2D08A2C5-2667-4512-ADE6-2895F2FABF60}" dt="2026-10-02T10:20:17.253" v="277"/>
          <ac:spMkLst>
            <pc:docMk/>
            <pc:sldMk cId="0" sldId="261"/>
            <ac:spMk id="20" creationId="{00000000-0000-0000-0000-000000000000}"/>
          </ac:spMkLst>
        </pc:spChg>
        <pc:spChg chg="del mod">
          <ac:chgData name="OM MALLEPELLI" userId="bd6b0d0788565c49" providerId="LiveId" clId="{2D08A2C5-2667-4512-ADE6-2895F2FABF60}" dt="2026-10-02T10:20:17.254" v="279"/>
          <ac:spMkLst>
            <pc:docMk/>
            <pc:sldMk cId="0" sldId="261"/>
            <ac:spMk id="25" creationId="{EB679B8D-03E5-E36E-A72F-7BC185653AD4}"/>
          </ac:spMkLst>
        </pc:spChg>
      </pc:sldChg>
      <pc:sldChg chg="del">
        <pc:chgData name="OM MALLEPELLI" userId="bd6b0d0788565c49" providerId="LiveId" clId="{2D08A2C5-2667-4512-ADE6-2895F2FABF60}" dt="2026-10-02T10:13:05.653" v="122" actId="47"/>
        <pc:sldMkLst>
          <pc:docMk/>
          <pc:sldMk cId="0" sldId="262"/>
        </pc:sldMkLst>
      </pc:sldChg>
      <pc:sldChg chg="addSp delSp modSp add del mod">
        <pc:chgData name="OM MALLEPELLI" userId="bd6b0d0788565c49" providerId="LiveId" clId="{2D08A2C5-2667-4512-ADE6-2895F2FABF60}" dt="2026-10-02T10:22:26.102" v="332" actId="1076"/>
        <pc:sldMkLst>
          <pc:docMk/>
          <pc:sldMk cId="734298611" sldId="265"/>
        </pc:sldMkLst>
        <pc:spChg chg="del mod">
          <ac:chgData name="OM MALLEPELLI" userId="bd6b0d0788565c49" providerId="LiveId" clId="{2D08A2C5-2667-4512-ADE6-2895F2FABF60}" dt="2026-10-02T10:21:44.770" v="322"/>
          <ac:spMkLst>
            <pc:docMk/>
            <pc:sldMk cId="734298611" sldId="265"/>
            <ac:spMk id="3" creationId="{13850BB2-42D0-0F24-D604-21A3E54FD9FB}"/>
          </ac:spMkLst>
        </pc:spChg>
        <pc:spChg chg="mod">
          <ac:chgData name="OM MALLEPELLI" userId="bd6b0d0788565c49" providerId="LiveId" clId="{2D08A2C5-2667-4512-ADE6-2895F2FABF60}" dt="2026-10-02T10:21:37.885" v="316" actId="20577"/>
          <ac:spMkLst>
            <pc:docMk/>
            <pc:sldMk cId="734298611" sldId="265"/>
            <ac:spMk id="22" creationId="{6A6A0C42-06CF-E9FF-E661-2E456E3D3C93}"/>
          </ac:spMkLst>
        </pc:spChg>
        <pc:spChg chg="add mod">
          <ac:chgData name="OM MALLEPELLI" userId="bd6b0d0788565c49" providerId="LiveId" clId="{2D08A2C5-2667-4512-ADE6-2895F2FABF60}" dt="2026-10-02T10:22:26.102" v="332" actId="1076"/>
          <ac:spMkLst>
            <pc:docMk/>
            <pc:sldMk cId="734298611" sldId="265"/>
            <ac:spMk id="23" creationId="{150FBE21-2FAA-654B-9440-7FE1E2FCA3AB}"/>
          </ac:spMkLst>
        </pc:spChg>
        <pc:spChg chg="del">
          <ac:chgData name="OM MALLEPELLI" userId="bd6b0d0788565c49" providerId="LiveId" clId="{2D08A2C5-2667-4512-ADE6-2895F2FABF60}" dt="2026-10-02T10:21:45.888" v="323" actId="478"/>
          <ac:spMkLst>
            <pc:docMk/>
            <pc:sldMk cId="734298611" sldId="265"/>
            <ac:spMk id="32" creationId="{86BE35BA-4849-0038-F302-B0E1C72388EA}"/>
          </ac:spMkLst>
        </pc:spChg>
        <pc:picChg chg="del">
          <ac:chgData name="OM MALLEPELLI" userId="bd6b0d0788565c49" providerId="LiveId" clId="{2D08A2C5-2667-4512-ADE6-2895F2FABF60}" dt="2026-10-02T10:21:44.768" v="320" actId="478"/>
          <ac:picMkLst>
            <pc:docMk/>
            <pc:sldMk cId="734298611" sldId="265"/>
            <ac:picMk id="29" creationId="{91B0BC77-489C-619C-1B6F-1907D59FB3EC}"/>
          </ac:picMkLst>
        </pc:picChg>
      </pc:sldChg>
      <pc:sldChg chg="delSp modSp mod">
        <pc:chgData name="OM MALLEPELLI" userId="bd6b0d0788565c49" providerId="LiveId" clId="{2D08A2C5-2667-4512-ADE6-2895F2FABF60}" dt="2026-10-02T10:05:22.230" v="92" actId="478"/>
        <pc:sldMkLst>
          <pc:docMk/>
          <pc:sldMk cId="2012931326" sldId="266"/>
        </pc:sldMkLst>
        <pc:spChg chg="mod">
          <ac:chgData name="OM MALLEPELLI" userId="bd6b0d0788565c49" providerId="LiveId" clId="{2D08A2C5-2667-4512-ADE6-2895F2FABF60}" dt="2026-10-02T10:05:20.467" v="91" actId="20577"/>
          <ac:spMkLst>
            <pc:docMk/>
            <pc:sldMk cId="2012931326" sldId="266"/>
            <ac:spMk id="20" creationId="{EC608609-90CA-6D57-DBD4-A6FBB7D7B9F0}"/>
          </ac:spMkLst>
        </pc:spChg>
        <pc:picChg chg="del">
          <ac:chgData name="OM MALLEPELLI" userId="bd6b0d0788565c49" providerId="LiveId" clId="{2D08A2C5-2667-4512-ADE6-2895F2FABF60}" dt="2026-10-02T10:05:22.230" v="92" actId="478"/>
          <ac:picMkLst>
            <pc:docMk/>
            <pc:sldMk cId="2012931326" sldId="266"/>
            <ac:picMk id="26" creationId="{B1D429D7-6673-36CD-635A-EE663310778B}"/>
          </ac:picMkLst>
        </pc:picChg>
      </pc:sldChg>
      <pc:sldChg chg="addSp delSp modSp mod">
        <pc:chgData name="OM MALLEPELLI" userId="bd6b0d0788565c49" providerId="LiveId" clId="{2D08A2C5-2667-4512-ADE6-2895F2FABF60}" dt="2026-10-02T10:23:01.822" v="334" actId="1076"/>
        <pc:sldMkLst>
          <pc:docMk/>
          <pc:sldMk cId="2947645350" sldId="267"/>
        </pc:sldMkLst>
        <pc:spChg chg="mod">
          <ac:chgData name="OM MALLEPELLI" userId="bd6b0d0788565c49" providerId="LiveId" clId="{2D08A2C5-2667-4512-ADE6-2895F2FABF60}" dt="2026-10-02T10:13:27.859" v="135" actId="20577"/>
          <ac:spMkLst>
            <pc:docMk/>
            <pc:sldMk cId="2947645350" sldId="267"/>
            <ac:spMk id="22" creationId="{C783419D-D9FE-E50C-A9F3-E468B94DD349}"/>
          </ac:spMkLst>
        </pc:spChg>
        <pc:spChg chg="del mod">
          <ac:chgData name="OM MALLEPELLI" userId="bd6b0d0788565c49" providerId="LiveId" clId="{2D08A2C5-2667-4512-ADE6-2895F2FABF60}" dt="2026-10-02T10:13:38.224" v="138"/>
          <ac:spMkLst>
            <pc:docMk/>
            <pc:sldMk cId="2947645350" sldId="267"/>
            <ac:spMk id="27" creationId="{8BF368EC-B650-E193-79DD-4213692164CB}"/>
          </ac:spMkLst>
        </pc:spChg>
        <pc:spChg chg="add mod">
          <ac:chgData name="OM MALLEPELLI" userId="bd6b0d0788565c49" providerId="LiveId" clId="{2D08A2C5-2667-4512-ADE6-2895F2FABF60}" dt="2026-10-02T10:19:34.126" v="271" actId="1076"/>
          <ac:spMkLst>
            <pc:docMk/>
            <pc:sldMk cId="2947645350" sldId="267"/>
            <ac:spMk id="37" creationId="{771CF849-A0D7-8A12-9D43-6C3BB698E512}"/>
          </ac:spMkLst>
        </pc:spChg>
        <pc:spChg chg="add mod">
          <ac:chgData name="OM MALLEPELLI" userId="bd6b0d0788565c49" providerId="LiveId" clId="{2D08A2C5-2667-4512-ADE6-2895F2FABF60}" dt="2026-10-02T10:19:43.622" v="273" actId="1076"/>
          <ac:spMkLst>
            <pc:docMk/>
            <pc:sldMk cId="2947645350" sldId="267"/>
            <ac:spMk id="39" creationId="{660F2F00-3A8B-1675-7108-8B575194F594}"/>
          </ac:spMkLst>
        </pc:spChg>
        <pc:picChg chg="add del mod">
          <ac:chgData name="OM MALLEPELLI" userId="bd6b0d0788565c49" providerId="LiveId" clId="{2D08A2C5-2667-4512-ADE6-2895F2FABF60}" dt="2026-10-02T10:14:01.558" v="147" actId="478"/>
          <ac:picMkLst>
            <pc:docMk/>
            <pc:sldMk cId="2947645350" sldId="267"/>
            <ac:picMk id="3" creationId="{FC30E3CC-6229-C90F-A8FC-E8E0D728E981}"/>
          </ac:picMkLst>
        </pc:picChg>
        <pc:picChg chg="add del mod">
          <ac:chgData name="OM MALLEPELLI" userId="bd6b0d0788565c49" providerId="LiveId" clId="{2D08A2C5-2667-4512-ADE6-2895F2FABF60}" dt="2026-10-02T10:14:02.051" v="148" actId="478"/>
          <ac:picMkLst>
            <pc:docMk/>
            <pc:sldMk cId="2947645350" sldId="267"/>
            <ac:picMk id="24" creationId="{6305E7DA-E52F-9345-CF14-86557CF92F48}"/>
          </ac:picMkLst>
        </pc:picChg>
        <pc:picChg chg="add del mod">
          <ac:chgData name="OM MALLEPELLI" userId="bd6b0d0788565c49" providerId="LiveId" clId="{2D08A2C5-2667-4512-ADE6-2895F2FABF60}" dt="2026-10-02T10:14:00.773" v="146" actId="478"/>
          <ac:picMkLst>
            <pc:docMk/>
            <pc:sldMk cId="2947645350" sldId="267"/>
            <ac:picMk id="28" creationId="{183E0814-F63E-C1F6-4DE0-251ADB479DFD}"/>
          </ac:picMkLst>
        </pc:picChg>
        <pc:picChg chg="add del mod">
          <ac:chgData name="OM MALLEPELLI" userId="bd6b0d0788565c49" providerId="LiveId" clId="{2D08A2C5-2667-4512-ADE6-2895F2FABF60}" dt="2026-10-02T10:14:00.061" v="145" actId="478"/>
          <ac:picMkLst>
            <pc:docMk/>
            <pc:sldMk cId="2947645350" sldId="267"/>
            <ac:picMk id="30" creationId="{C14C9B47-09F1-E62C-5B89-47A4AABC4B21}"/>
          </ac:picMkLst>
        </pc:picChg>
        <pc:picChg chg="add del mod">
          <ac:chgData name="OM MALLEPELLI" userId="bd6b0d0788565c49" providerId="LiveId" clId="{2D08A2C5-2667-4512-ADE6-2895F2FABF60}" dt="2026-10-02T10:13:59.578" v="144" actId="478"/>
          <ac:picMkLst>
            <pc:docMk/>
            <pc:sldMk cId="2947645350" sldId="267"/>
            <ac:picMk id="32" creationId="{7A74BAB3-4EB0-737D-34CD-636C81C2A928}"/>
          </ac:picMkLst>
        </pc:picChg>
        <pc:picChg chg="add mod">
          <ac:chgData name="OM MALLEPELLI" userId="bd6b0d0788565c49" providerId="LiveId" clId="{2D08A2C5-2667-4512-ADE6-2895F2FABF60}" dt="2026-10-02T10:23:01.822" v="334" actId="1076"/>
          <ac:picMkLst>
            <pc:docMk/>
            <pc:sldMk cId="2947645350" sldId="267"/>
            <ac:picMk id="35" creationId="{A7291101-FAB8-63A8-634E-A824178C9B3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10" Type="http://schemas.openxmlformats.org/officeDocument/2006/relationships/image" Target="../media/image13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svg"/><Relationship Id="rId11" Type="http://schemas.openxmlformats.org/officeDocument/2006/relationships/hyperlink" Target="https://doi.org/10.1080/17483107.2025.2582033" TargetMode="External"/><Relationship Id="rId5" Type="http://schemas.openxmlformats.org/officeDocument/2006/relationships/image" Target="../media/image6.png"/><Relationship Id="rId10" Type="http://schemas.openxmlformats.org/officeDocument/2006/relationships/hyperlink" Target="https://pubmed.ncbi.nlm.nih.gov/41182323/" TargetMode="External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image" Target="../media/image6.png"/><Relationship Id="rId4" Type="http://schemas.openxmlformats.org/officeDocument/2006/relationships/image" Target="../media/image8.svg"/><Relationship Id="rId9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9" name="Freeform 9"/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72837" r="-41" b="-72169"/>
                </a:stretch>
              </a:blipFill>
            </p:spPr>
          </p:sp>
        </p:grp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13" name="Freeform 13"/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16" name="Freeform 16"/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4"/>
              <a:stretch>
                <a:fillRect l="-21533" t="-52205" r="-9221" b="-21530"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19" name="Freeform 19"/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7"/>
              <a:stretch>
                <a:fillRect l="-94283" t="-93526" r="-46" b="-1"/>
              </a:stretch>
            </a:blipFill>
          </p:spPr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C6A8E44-C530-35A0-EFFA-9ADB95611AD0}"/>
              </a:ext>
            </a:extLst>
          </p:cNvPr>
          <p:cNvSpPr txBox="1"/>
          <p:nvPr/>
        </p:nvSpPr>
        <p:spPr>
          <a:xfrm>
            <a:off x="4149033" y="2619076"/>
            <a:ext cx="858377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A </a:t>
            </a:r>
          </a:p>
          <a:p>
            <a:pPr algn="ctr"/>
            <a:r>
              <a:rPr lang="en-US" sz="4400" b="1" dirty="0"/>
              <a:t>Project Presentation </a:t>
            </a:r>
          </a:p>
          <a:p>
            <a:pPr algn="ctr"/>
            <a:r>
              <a:rPr lang="en-US" sz="4400" b="1" dirty="0"/>
              <a:t>On</a:t>
            </a:r>
          </a:p>
          <a:p>
            <a:pPr algn="ctr"/>
            <a:r>
              <a:rPr lang="en-US" sz="4400" b="1" dirty="0"/>
              <a:t>IOT Scribe System for Visually Impaired Students</a:t>
            </a:r>
            <a:endParaRPr lang="en-IN" sz="4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D5A9BD-40E5-9035-3CA0-8749C15ADE6C}"/>
              </a:ext>
            </a:extLst>
          </p:cNvPr>
          <p:cNvSpPr txBox="1"/>
          <p:nvPr/>
        </p:nvSpPr>
        <p:spPr>
          <a:xfrm>
            <a:off x="1786253" y="4820334"/>
            <a:ext cx="1036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                      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A52F4C-5427-A3AB-702C-C8DE7CF494AE}"/>
              </a:ext>
            </a:extLst>
          </p:cNvPr>
          <p:cNvSpPr txBox="1"/>
          <p:nvPr/>
        </p:nvSpPr>
        <p:spPr>
          <a:xfrm>
            <a:off x="4572000" y="6438900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  Team Members:- 1.Sanket </a:t>
            </a:r>
            <a:r>
              <a:rPr lang="en-IN" sz="3600" b="1" dirty="0" err="1"/>
              <a:t>Sherki</a:t>
            </a:r>
            <a:endParaRPr lang="en-IN" sz="3600" b="1" dirty="0"/>
          </a:p>
          <a:p>
            <a:r>
              <a:rPr lang="en-IN" sz="3600" b="1" dirty="0"/>
              <a:t>			       2.Om Rajesh </a:t>
            </a:r>
            <a:r>
              <a:rPr lang="en-IN" sz="3600" b="1" dirty="0" err="1"/>
              <a:t>Mallepelli</a:t>
            </a:r>
            <a:endParaRPr lang="en-IN" sz="3600" b="1" dirty="0"/>
          </a:p>
          <a:p>
            <a:r>
              <a:rPr lang="en-IN" sz="3600" b="1" dirty="0"/>
              <a:t>			       3.Vaishnav </a:t>
            </a:r>
            <a:r>
              <a:rPr lang="en-IN" sz="3600" b="1" dirty="0" err="1"/>
              <a:t>Waghre</a:t>
            </a:r>
            <a:endParaRPr lang="en-IN" sz="3600" b="1" dirty="0"/>
          </a:p>
          <a:p>
            <a:r>
              <a:rPr lang="en-IN" sz="3600" b="1" dirty="0"/>
              <a:t>			       4.Chaitanya </a:t>
            </a:r>
            <a:r>
              <a:rPr lang="en-IN" sz="3600" b="1" dirty="0" err="1"/>
              <a:t>Somuse</a:t>
            </a:r>
            <a:endParaRPr lang="en-IN" sz="3600" b="1" dirty="0"/>
          </a:p>
          <a:p>
            <a:endParaRPr lang="en-IN" sz="3600" b="1" dirty="0"/>
          </a:p>
          <a:p>
            <a:r>
              <a:rPr lang="en-IN" sz="3600" b="1" dirty="0"/>
              <a:t>			      		</a:t>
            </a:r>
            <a:endParaRPr lang="en-IN" sz="3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41629E-BC43-A8C7-23D5-81293237D6B1}"/>
              </a:ext>
            </a:extLst>
          </p:cNvPr>
          <p:cNvSpPr txBox="1"/>
          <p:nvPr/>
        </p:nvSpPr>
        <p:spPr>
          <a:xfrm>
            <a:off x="3352800" y="1185922"/>
            <a:ext cx="1094495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Peoples</a:t>
            </a:r>
            <a:r>
              <a:rPr lang="en-US" sz="4000" b="1" spc="-130" dirty="0"/>
              <a:t> </a:t>
            </a:r>
            <a:r>
              <a:rPr lang="en-US" sz="4000" b="1" dirty="0"/>
              <a:t>Empowerment</a:t>
            </a:r>
            <a:r>
              <a:rPr lang="en-US" sz="4000" b="1" spc="-125" dirty="0"/>
              <a:t> </a:t>
            </a:r>
            <a:r>
              <a:rPr lang="en-US" sz="4000" b="1" spc="-10" dirty="0"/>
              <a:t>Group</a:t>
            </a:r>
            <a:br>
              <a:rPr lang="en-US" sz="4000" b="1" dirty="0"/>
            </a:br>
            <a:r>
              <a:rPr lang="en-US" sz="4000" b="1" dirty="0"/>
              <a:t>ISBM</a:t>
            </a:r>
            <a:r>
              <a:rPr lang="en-US" sz="4000" b="1" spc="-110" dirty="0"/>
              <a:t> </a:t>
            </a:r>
            <a:r>
              <a:rPr lang="en-US" sz="4000" b="1" dirty="0"/>
              <a:t>COLLEGE</a:t>
            </a:r>
            <a:r>
              <a:rPr lang="en-US" sz="4000" b="1" spc="-90" dirty="0"/>
              <a:t> </a:t>
            </a:r>
            <a:r>
              <a:rPr lang="en-US" sz="4000" b="1" dirty="0"/>
              <a:t>OF</a:t>
            </a:r>
            <a:r>
              <a:rPr lang="en-US" sz="4000" b="1" spc="-175" dirty="0"/>
              <a:t> </a:t>
            </a:r>
            <a:r>
              <a:rPr lang="en-US" sz="4000" b="1" spc="-10" dirty="0"/>
              <a:t>ENGINEERING,</a:t>
            </a:r>
            <a:r>
              <a:rPr lang="en-US" sz="4000" b="1" spc="-95" dirty="0"/>
              <a:t> </a:t>
            </a:r>
            <a:r>
              <a:rPr lang="en-US" sz="4000" b="1" dirty="0"/>
              <a:t>NANDE,</a:t>
            </a:r>
            <a:r>
              <a:rPr lang="en-US" sz="4000" b="1" spc="-95" dirty="0"/>
              <a:t> </a:t>
            </a:r>
            <a:r>
              <a:rPr lang="en-US" sz="4000" b="1" spc="-20" dirty="0"/>
              <a:t>PUNE</a:t>
            </a:r>
            <a:endParaRPr lang="en-IN" sz="4000" b="1" dirty="0"/>
          </a:p>
        </p:txBody>
      </p:sp>
      <p:pic>
        <p:nvPicPr>
          <p:cNvPr id="28" name="object 4">
            <a:extLst>
              <a:ext uri="{FF2B5EF4-FFF2-40B4-BE49-F238E27FC236}">
                <a16:creationId xmlns:a16="http://schemas.microsoft.com/office/drawing/2014/main" id="{2E90B70E-8333-9527-FF8E-70065807D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276" y="1200436"/>
            <a:ext cx="115151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3" name="Freeform 3"/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6" name="Freeform 6"/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9" name="Freeform 9"/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/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20" name="TextBox 20"/>
          <p:cNvSpPr txBox="1"/>
          <p:nvPr/>
        </p:nvSpPr>
        <p:spPr>
          <a:xfrm>
            <a:off x="-458671" y="886671"/>
            <a:ext cx="18273281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PROBLEM 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DB951B-5D1D-E9A7-6278-01A6561B3A98}"/>
              </a:ext>
            </a:extLst>
          </p:cNvPr>
          <p:cNvSpPr txBox="1"/>
          <p:nvPr/>
        </p:nvSpPr>
        <p:spPr>
          <a:xfrm>
            <a:off x="990600" y="2755995"/>
            <a:ext cx="12877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400" b="1" dirty="0"/>
              <a:t>The Reality Today:</a:t>
            </a:r>
          </a:p>
          <a:p>
            <a:endParaRPr lang="en-US" sz="4400" b="1" dirty="0"/>
          </a:p>
          <a:p>
            <a:r>
              <a:rPr lang="en-US" sz="4400" dirty="0"/>
              <a:t>• Visually impaired students depend on human scribes</a:t>
            </a:r>
            <a:br>
              <a:rPr lang="en-US" sz="4400" dirty="0"/>
            </a:br>
            <a:r>
              <a:rPr lang="en-US" sz="4400" dirty="0"/>
              <a:t>• Leads to bias, privacy loss &amp; recurring cost</a:t>
            </a:r>
            <a:br>
              <a:rPr lang="en-US" sz="4400" dirty="0"/>
            </a:br>
            <a:r>
              <a:rPr lang="en-US" sz="4400" dirty="0"/>
              <a:t>• Existing digital exams are visual-first</a:t>
            </a:r>
            <a:br>
              <a:rPr lang="en-US" sz="4400" dirty="0"/>
            </a:br>
            <a:r>
              <a:rPr lang="en-US" sz="4400" dirty="0"/>
              <a:t>• Inclusive exam tools are missing</a:t>
            </a:r>
            <a:endParaRPr lang="en-US" sz="4400" b="1" dirty="0"/>
          </a:p>
        </p:txBody>
      </p:sp>
      <p:sp>
        <p:nvSpPr>
          <p:cNvPr id="26" name="AutoShape 10">
            <a:extLst>
              <a:ext uri="{FF2B5EF4-FFF2-40B4-BE49-F238E27FC236}">
                <a16:creationId xmlns:a16="http://schemas.microsoft.com/office/drawing/2014/main" id="{854304AC-8226-93D3-3624-E582D6D4D4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95312BB-FFCF-DC9E-C685-ABEC403982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0" y="1351070"/>
            <a:ext cx="6691455" cy="77116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7EBC87B-F140-B4FF-21B4-FD64008E7B91}"/>
              </a:ext>
            </a:extLst>
          </p:cNvPr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9ECFC8-7FE0-F2BF-801B-7C1C64063052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E4D5C67A-C783-55A2-8F49-23247FDA0679}"/>
              </a:ext>
            </a:extLst>
          </p:cNvPr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2F940D93-1CFC-9E3A-61A5-117308F18C92}"/>
              </a:ext>
            </a:extLst>
          </p:cNvPr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64CF5BC-3206-0B37-692F-0E7CDAF7EED1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8545940-EA81-F4D0-83AE-D3B01545F295}"/>
              </a:ext>
            </a:extLst>
          </p:cNvPr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B4554CA2-039C-E028-CBC0-3BE29B1A5D81}"/>
              </a:ext>
            </a:extLst>
          </p:cNvPr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86A1221-E1EA-3635-AA89-471F5B952ADC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8EF59D6-4C69-1F38-5075-D346612D3855}"/>
              </a:ext>
            </a:extLst>
          </p:cNvPr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4C263E6-123F-FB68-0264-07F62AF50B86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EA2E519-7BA0-8E51-20E1-CE024D3AEE78}"/>
                </a:ext>
              </a:extLst>
            </p:cNvPr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4D3B59C4-2D8C-CA05-81D7-941D69215A7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19" name="Freeform 14">
                <a:extLst>
                  <a:ext uri="{FF2B5EF4-FFF2-40B4-BE49-F238E27FC236}">
                    <a16:creationId xmlns:a16="http://schemas.microsoft.com/office/drawing/2014/main" id="{93B998AC-923A-10FE-D461-E469674B3EA8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4" name="Group 15">
              <a:extLst>
                <a:ext uri="{FF2B5EF4-FFF2-40B4-BE49-F238E27FC236}">
                  <a16:creationId xmlns:a16="http://schemas.microsoft.com/office/drawing/2014/main" id="{5D303C58-1DEB-394C-6694-8EC4C75F97B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18" name="Freeform 16">
                <a:extLst>
                  <a:ext uri="{FF2B5EF4-FFF2-40B4-BE49-F238E27FC236}">
                    <a16:creationId xmlns:a16="http://schemas.microsoft.com/office/drawing/2014/main" id="{E302E6E9-849E-1FE5-2DCF-4C5814560A46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257D77A8-18AC-41C6-8DDE-19DE1C163445}"/>
                </a:ext>
              </a:extLst>
            </p:cNvPr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6" name="Group 18">
              <a:extLst>
                <a:ext uri="{FF2B5EF4-FFF2-40B4-BE49-F238E27FC236}">
                  <a16:creationId xmlns:a16="http://schemas.microsoft.com/office/drawing/2014/main" id="{7C1E4B2B-37F3-6342-513E-CD2D50F2EF7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F64F1F93-EF16-BF00-5A09-63174B902A18}"/>
                  </a:ext>
                </a:extLst>
              </p:cNvPr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EC608609-90CA-6D57-DBD4-A6FBB7D7B9F0}"/>
              </a:ext>
            </a:extLst>
          </p:cNvPr>
          <p:cNvSpPr txBox="1"/>
          <p:nvPr/>
        </p:nvSpPr>
        <p:spPr>
          <a:xfrm>
            <a:off x="-351018" y="913661"/>
            <a:ext cx="18273281" cy="784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PROPOSED SYSTEM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9CA3B7-2FF8-13BB-1315-7705915ADFFB}"/>
              </a:ext>
            </a:extLst>
          </p:cNvPr>
          <p:cNvSpPr txBox="1"/>
          <p:nvPr/>
        </p:nvSpPr>
        <p:spPr>
          <a:xfrm>
            <a:off x="990600" y="2755995"/>
            <a:ext cx="12877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endParaRPr lang="en-US" sz="4400" b="1" dirty="0"/>
          </a:p>
        </p:txBody>
      </p:sp>
      <p:sp>
        <p:nvSpPr>
          <p:cNvPr id="23" name="AutoShape 10">
            <a:extLst>
              <a:ext uri="{FF2B5EF4-FFF2-40B4-BE49-F238E27FC236}">
                <a16:creationId xmlns:a16="http://schemas.microsoft.com/office/drawing/2014/main" id="{3021A91B-F935-D4EE-635E-486AA6A61E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129D88-EFF9-205B-6704-78E2F5680B0C}"/>
              </a:ext>
            </a:extLst>
          </p:cNvPr>
          <p:cNvSpPr txBox="1"/>
          <p:nvPr/>
        </p:nvSpPr>
        <p:spPr>
          <a:xfrm>
            <a:off x="1383034" y="1935939"/>
            <a:ext cx="8522027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000" dirty="0"/>
              <a:t>Design an assistive examination device for visually impaired students.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000" dirty="0"/>
              <a:t>Convert examination questions into audio instructions.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000" dirty="0"/>
              <a:t>Allow students to select answers using dedicated buttons.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000" dirty="0"/>
              <a:t>Display the selected answer for invigilator verification.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000" dirty="0"/>
              <a:t>Store examination responses digitally.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000" dirty="0"/>
              <a:t>Enable wireless transfer of examination data using IoT.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4000" dirty="0"/>
              <a:t>Develop a low-cost and user-friendly solution.</a:t>
            </a:r>
          </a:p>
        </p:txBody>
      </p:sp>
    </p:spTree>
    <p:extLst>
      <p:ext uri="{BB962C8B-B14F-4D97-AF65-F5344CB8AC3E}">
        <p14:creationId xmlns:p14="http://schemas.microsoft.com/office/powerpoint/2010/main" val="2012931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3" name="Freeform 3"/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-89661" y="-71547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0" y="-106487"/>
            <a:ext cx="3655979" cy="2419133"/>
            <a:chOff x="0" y="0"/>
            <a:chExt cx="2494293" cy="1650454"/>
          </a:xfrm>
        </p:grpSpPr>
        <p:sp>
          <p:nvSpPr>
            <p:cNvPr id="6" name="Freeform 6"/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9" name="Freeform 9"/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/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20" name="TextBox 20"/>
          <p:cNvSpPr txBox="1"/>
          <p:nvPr/>
        </p:nvSpPr>
        <p:spPr>
          <a:xfrm>
            <a:off x="2687937" y="642922"/>
            <a:ext cx="12758857" cy="84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SPECIFICATIONS</a:t>
            </a:r>
          </a:p>
        </p:txBody>
      </p:sp>
      <p:sp>
        <p:nvSpPr>
          <p:cNvPr id="26" name="AutoShape 2" descr="Generated image">
            <a:extLst>
              <a:ext uri="{FF2B5EF4-FFF2-40B4-BE49-F238E27FC236}">
                <a16:creationId xmlns:a16="http://schemas.microsoft.com/office/drawing/2014/main" id="{B5C9C2E4-4F4E-D888-1A20-3DAA4D3B19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982040" y="4991100"/>
            <a:ext cx="4026538" cy="402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AutoShape 4" descr="Generated image">
            <a:extLst>
              <a:ext uri="{FF2B5EF4-FFF2-40B4-BE49-F238E27FC236}">
                <a16:creationId xmlns:a16="http://schemas.microsoft.com/office/drawing/2014/main" id="{2CF80A91-E3F0-0536-6CE4-76E28D9671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481B404-450F-246E-D69F-183B7FC9862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775" y="952524"/>
            <a:ext cx="6780727" cy="93344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C03837A2-6D56-BC4E-E61E-9625D25ED724}"/>
              </a:ext>
            </a:extLst>
          </p:cNvPr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1085F4F7-623A-5496-9E4E-AD7B70EBD08D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Freeform 4">
            <a:extLst>
              <a:ext uri="{FF2B5EF4-FFF2-40B4-BE49-F238E27FC236}">
                <a16:creationId xmlns:a16="http://schemas.microsoft.com/office/drawing/2014/main" id="{444196C5-3612-F389-4850-6CF6F22EE15A}"/>
              </a:ext>
            </a:extLst>
          </p:cNvPr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4800394B-A935-0CE3-EFAF-46F889CEA053}"/>
              </a:ext>
            </a:extLst>
          </p:cNvPr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46415A6-8054-39E9-F521-CF2FDE70D4A0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9" name="Freeform 7">
            <a:extLst>
              <a:ext uri="{FF2B5EF4-FFF2-40B4-BE49-F238E27FC236}">
                <a16:creationId xmlns:a16="http://schemas.microsoft.com/office/drawing/2014/main" id="{F382BB57-7FC2-CCFC-2ECA-9BC5C3BF0DA8}"/>
              </a:ext>
            </a:extLst>
          </p:cNvPr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3CCD815D-DD8F-1F82-D212-C52AB5FE6801}"/>
              </a:ext>
            </a:extLst>
          </p:cNvPr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94E4787-D611-C79D-881A-3D9D61637C85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6AE70911-8C16-1C58-1102-974615658DFD}"/>
              </a:ext>
            </a:extLst>
          </p:cNvPr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8B10623-AA75-C1EF-EBCF-58556CBF9B1E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D77ADA9E-AD62-9789-4FAA-5CB8D1BDF3D1}"/>
                </a:ext>
              </a:extLst>
            </p:cNvPr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5" name="Group 13">
              <a:extLst>
                <a:ext uri="{FF2B5EF4-FFF2-40B4-BE49-F238E27FC236}">
                  <a16:creationId xmlns:a16="http://schemas.microsoft.com/office/drawing/2014/main" id="{6A8E1EF9-12DC-C168-49C1-A35C5232C4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21" name="Freeform 14">
                <a:extLst>
                  <a:ext uri="{FF2B5EF4-FFF2-40B4-BE49-F238E27FC236}">
                    <a16:creationId xmlns:a16="http://schemas.microsoft.com/office/drawing/2014/main" id="{C2DA9A60-17D2-50F4-34B3-DE56F2BC097A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CC49E70-96EE-8A89-A2E2-26B16B03AF7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96FEBA20-FC77-ADD6-811C-5261AA04E7FE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E1553CB-B6EA-256A-A8E0-8A23413E25CD}"/>
                </a:ext>
              </a:extLst>
            </p:cNvPr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1E993109-DA40-5A61-106C-876D2F85702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86A5D702-B058-E9F1-DDD2-EF7806E18197}"/>
                  </a:ext>
                </a:extLst>
              </p:cNvPr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22" name="TextBox 20">
            <a:extLst>
              <a:ext uri="{FF2B5EF4-FFF2-40B4-BE49-F238E27FC236}">
                <a16:creationId xmlns:a16="http://schemas.microsoft.com/office/drawing/2014/main" id="{C783419D-D9FE-E50C-A9F3-E468B94DD349}"/>
              </a:ext>
            </a:extLst>
          </p:cNvPr>
          <p:cNvSpPr txBox="1"/>
          <p:nvPr/>
        </p:nvSpPr>
        <p:spPr>
          <a:xfrm>
            <a:off x="-696447" y="1022704"/>
            <a:ext cx="18273281" cy="86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IN" sz="5400" dirty="0">
                <a:latin typeface="Alice" panose="020B0604020202020204" charset="0"/>
              </a:rPr>
              <a:t>WORKING</a:t>
            </a:r>
            <a:endParaRPr lang="en-US" sz="5099" dirty="0">
              <a:solidFill>
                <a:srgbClr val="000000"/>
              </a:solidFill>
              <a:latin typeface="Alice" panose="020B0604020202020204" charset="0"/>
              <a:ea typeface="Alice"/>
              <a:cs typeface="Alice"/>
              <a:sym typeface="Alice"/>
            </a:endParaRPr>
          </a:p>
        </p:txBody>
      </p:sp>
      <p:sp>
        <p:nvSpPr>
          <p:cNvPr id="25" name="AutoShape 10">
            <a:extLst>
              <a:ext uri="{FF2B5EF4-FFF2-40B4-BE49-F238E27FC236}">
                <a16:creationId xmlns:a16="http://schemas.microsoft.com/office/drawing/2014/main" id="{2FB0954C-7EAE-EB7A-212A-E9E3D49DC8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7291101-FAB8-63A8-634E-A824178C9B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301" y="1220913"/>
            <a:ext cx="15993651" cy="26670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71CF849-A0D7-8A12-9D43-6C3BB698E512}"/>
              </a:ext>
            </a:extLst>
          </p:cNvPr>
          <p:cNvSpPr txBox="1"/>
          <p:nvPr/>
        </p:nvSpPr>
        <p:spPr>
          <a:xfrm>
            <a:off x="1859739" y="3848091"/>
            <a:ext cx="103632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Arial Black" panose="020B0A04020102020204" pitchFamily="34" charset="0"/>
              </a:rPr>
              <a:t>Start Exam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    ↓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Play Question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    ↓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Student Listens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    ↓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Select 1 / 2 / 3 / 4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    ↓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Change / Repeat / Pause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    ↓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Press #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    ↓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Save Answer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    ↓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Send Through Wi-Fi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    ↓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Next Question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0F2F00-3A8B-1675-7108-8B575194F594}"/>
              </a:ext>
            </a:extLst>
          </p:cNvPr>
          <p:cNvSpPr txBox="1"/>
          <p:nvPr/>
        </p:nvSpPr>
        <p:spPr>
          <a:xfrm>
            <a:off x="7741807" y="3772406"/>
            <a:ext cx="91198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latin typeface="Arial Black" panose="020B0A04020102020204" pitchFamily="34" charset="0"/>
              </a:rPr>
              <a:t>Keypad: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 Black" panose="020B0A04020102020204" pitchFamily="34" charset="0"/>
              </a:rPr>
              <a:t>1 → 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 Black" panose="020B0A04020102020204" pitchFamily="34" charset="0"/>
              </a:rPr>
              <a:t>2 → 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 Black" panose="020B0A04020102020204" pitchFamily="34" charset="0"/>
              </a:rPr>
              <a:t>3 → C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 Black" panose="020B0A04020102020204" pitchFamily="34" charset="0"/>
              </a:rPr>
              <a:t>4 → 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 Black" panose="020B0A04020102020204" pitchFamily="34" charset="0"/>
              </a:rPr>
              <a:t>0 → Repeat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 Black" panose="020B0A04020102020204" pitchFamily="34" charset="0"/>
              </a:rPr>
              <a:t>* → Pause/Resume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 Black" panose="020B0A04020102020204" pitchFamily="34" charset="0"/>
              </a:rPr>
              <a:t># → Confirm</a:t>
            </a:r>
          </a:p>
        </p:txBody>
      </p:sp>
    </p:spTree>
    <p:extLst>
      <p:ext uri="{BB962C8B-B14F-4D97-AF65-F5344CB8AC3E}">
        <p14:creationId xmlns:p14="http://schemas.microsoft.com/office/powerpoint/2010/main" val="2947645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3" name="Freeform 3"/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6" name="Freeform 6"/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9" name="Freeform 9"/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/>
            <p:cNvSpPr/>
            <p:nvPr/>
          </p:nvSpPr>
          <p:spPr>
            <a:xfrm>
              <a:off x="367019" y="2492883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7878250" y="2541711"/>
              <a:ext cx="10700812" cy="2503408"/>
              <a:chOff x="-79668" y="172451"/>
              <a:chExt cx="4431919" cy="103682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-79668" y="172451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20" name="TextBox 20"/>
          <p:cNvSpPr txBox="1"/>
          <p:nvPr/>
        </p:nvSpPr>
        <p:spPr>
          <a:xfrm>
            <a:off x="-412663" y="659355"/>
            <a:ext cx="17978946" cy="86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IN" sz="5400" dirty="0">
                <a:latin typeface="Alice" panose="020B0604020202020204" charset="0"/>
              </a:rPr>
              <a:t>IOT ARCHITECTURE</a:t>
            </a:r>
            <a:endParaRPr lang="en-US" sz="5099" dirty="0">
              <a:solidFill>
                <a:srgbClr val="000000"/>
              </a:solidFill>
              <a:latin typeface="Alice" panose="020B0604020202020204" charset="0"/>
              <a:ea typeface="Alice"/>
              <a:cs typeface="Alice"/>
              <a:sym typeface="Alice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FB6BD8-7D1D-CFAE-EF0E-485012EE74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993" y="1588570"/>
            <a:ext cx="13822026" cy="79330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D5B63E88-4578-D3A9-F663-A80F839BDD63}"/>
              </a:ext>
            </a:extLst>
          </p:cNvPr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2E4EF4E5-D9E9-55EF-9333-28B79C727401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Freeform 4">
            <a:extLst>
              <a:ext uri="{FF2B5EF4-FFF2-40B4-BE49-F238E27FC236}">
                <a16:creationId xmlns:a16="http://schemas.microsoft.com/office/drawing/2014/main" id="{CB623AD8-F448-8818-A096-A62A20B30C55}"/>
              </a:ext>
            </a:extLst>
          </p:cNvPr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FDE3CC35-35ED-CC23-213C-5A7DFE43729F}"/>
              </a:ext>
            </a:extLst>
          </p:cNvPr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E86B6BF-2C14-2C20-3ED9-AAD965B5DB17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9" name="Freeform 7">
            <a:extLst>
              <a:ext uri="{FF2B5EF4-FFF2-40B4-BE49-F238E27FC236}">
                <a16:creationId xmlns:a16="http://schemas.microsoft.com/office/drawing/2014/main" id="{D742779B-7776-DBA5-A0E3-FC068681332F}"/>
              </a:ext>
            </a:extLst>
          </p:cNvPr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A8A1B773-BF61-DC28-6061-C50FBFA7E806}"/>
              </a:ext>
            </a:extLst>
          </p:cNvPr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1FAD1790-95EC-0EA6-7078-72A6157DE367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7C7D0933-B46D-3601-C84C-56C3797F1D58}"/>
              </a:ext>
            </a:extLst>
          </p:cNvPr>
          <p:cNvGrpSpPr/>
          <p:nvPr/>
        </p:nvGrpSpPr>
        <p:grpSpPr>
          <a:xfrm>
            <a:off x="-12232" y="6450250"/>
            <a:ext cx="18300232" cy="3851542"/>
            <a:chOff x="0" y="0"/>
            <a:chExt cx="24400310" cy="5135389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8263A10F-412A-82DE-199F-29D6296D9DA9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31F1844-708B-F071-44C7-FB6D5AE09B32}"/>
                </a:ext>
              </a:extLst>
            </p:cNvPr>
            <p:cNvSpPr/>
            <p:nvPr/>
          </p:nvSpPr>
          <p:spPr>
            <a:xfrm>
              <a:off x="12829684" y="1787219"/>
              <a:ext cx="11570626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grpSp>
          <p:nvGrpSpPr>
            <p:cNvPr id="15" name="Group 13">
              <a:extLst>
                <a:ext uri="{FF2B5EF4-FFF2-40B4-BE49-F238E27FC236}">
                  <a16:creationId xmlns:a16="http://schemas.microsoft.com/office/drawing/2014/main" id="{F952AC08-1D69-018A-5327-FB610EA0A76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21" name="Freeform 14">
                <a:extLst>
                  <a:ext uri="{FF2B5EF4-FFF2-40B4-BE49-F238E27FC236}">
                    <a16:creationId xmlns:a16="http://schemas.microsoft.com/office/drawing/2014/main" id="{315BA1AB-F7D6-8AB5-08A4-1A7B3836BF5B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A40D765-E2B5-C909-AAB0-6DB69712FF2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CF76C07C-29C6-61B0-33E7-0205F737C6E6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28DA43E-4DDC-F5CB-D805-EB40525700AE}"/>
                </a:ext>
              </a:extLst>
            </p:cNvPr>
            <p:cNvSpPr/>
            <p:nvPr/>
          </p:nvSpPr>
          <p:spPr>
            <a:xfrm>
              <a:off x="407092" y="251152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7ADE1989-D15E-CE60-0670-24DFF4A339E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292184" y="2631981"/>
              <a:ext cx="10700812" cy="2503408"/>
              <a:chOff x="91770" y="209838"/>
              <a:chExt cx="4431919" cy="1036828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EFB55E6C-633B-ECD3-E729-76E3E0392107}"/>
                  </a:ext>
                </a:extLst>
              </p:cNvPr>
              <p:cNvSpPr/>
              <p:nvPr/>
            </p:nvSpPr>
            <p:spPr>
              <a:xfrm>
                <a:off x="91770" y="209838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  <p:txBody>
              <a:bodyPr/>
              <a:lstStyle/>
              <a:p>
                <a:endParaRPr lang="en-IN" dirty="0"/>
              </a:p>
            </p:txBody>
          </p:sp>
        </p:grpSp>
      </p:grpSp>
      <p:sp>
        <p:nvSpPr>
          <p:cNvPr id="22" name="TextBox 20">
            <a:extLst>
              <a:ext uri="{FF2B5EF4-FFF2-40B4-BE49-F238E27FC236}">
                <a16:creationId xmlns:a16="http://schemas.microsoft.com/office/drawing/2014/main" id="{6A6A0C42-06CF-E9FF-E661-2E456E3D3C93}"/>
              </a:ext>
            </a:extLst>
          </p:cNvPr>
          <p:cNvSpPr txBox="1"/>
          <p:nvPr/>
        </p:nvSpPr>
        <p:spPr>
          <a:xfrm>
            <a:off x="1815748" y="832155"/>
            <a:ext cx="13960198" cy="784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5099" dirty="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Progress and Future Work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D73E2E-1133-51A0-AE09-A2C153651CB5}"/>
              </a:ext>
            </a:extLst>
          </p:cNvPr>
          <p:cNvSpPr txBox="1"/>
          <p:nvPr/>
        </p:nvSpPr>
        <p:spPr>
          <a:xfrm>
            <a:off x="3028950" y="3886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0FBE21-2FAA-654B-9440-7FE1E2FCA3AB}"/>
              </a:ext>
            </a:extLst>
          </p:cNvPr>
          <p:cNvSpPr txBox="1"/>
          <p:nvPr/>
        </p:nvSpPr>
        <p:spPr>
          <a:xfrm>
            <a:off x="2151421" y="1912355"/>
            <a:ext cx="10963988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Current Progress</a:t>
            </a:r>
            <a:endParaRPr lang="en-IN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System architecture finalized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Hardware components identified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Circuit designed in </a:t>
            </a:r>
            <a:r>
              <a:rPr lang="en-IN" sz="3200" dirty="0" err="1"/>
              <a:t>Cirkit</a:t>
            </a:r>
            <a:r>
              <a:rPr lang="en-IN" sz="3200" dirty="0"/>
              <a:t> Designer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Keypad functionality defined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 err="1"/>
              <a:t>DFPlayer</a:t>
            </a:r>
            <a:r>
              <a:rPr lang="en-IN" sz="3200" dirty="0"/>
              <a:t> audio workflow defined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 </a:t>
            </a:r>
          </a:p>
          <a:p>
            <a:pPr>
              <a:buNone/>
            </a:pPr>
            <a:r>
              <a:rPr lang="en-IN" sz="3200" b="1" dirty="0"/>
              <a:t>Next Steps</a:t>
            </a:r>
            <a:endParaRPr lang="en-IN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Assemble hardware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Test audio playback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Program ESP32-S3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Implement answer storage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Implement Wi-Fi communication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Develop dashboard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Test complete prototype</a:t>
            </a:r>
          </a:p>
        </p:txBody>
      </p:sp>
    </p:spTree>
    <p:extLst>
      <p:ext uri="{BB962C8B-B14F-4D97-AF65-F5344CB8AC3E}">
        <p14:creationId xmlns:p14="http://schemas.microsoft.com/office/powerpoint/2010/main" val="734298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D7BA4458-5CE9-E837-5F33-8849F385A01C}"/>
              </a:ext>
            </a:extLst>
          </p:cNvPr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B3D218B7-254E-98BD-C58B-F23C04D4BF45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Freeform 4">
            <a:extLst>
              <a:ext uri="{FF2B5EF4-FFF2-40B4-BE49-F238E27FC236}">
                <a16:creationId xmlns:a16="http://schemas.microsoft.com/office/drawing/2014/main" id="{B13BF282-FA2E-A55F-910F-88D63A878685}"/>
              </a:ext>
            </a:extLst>
          </p:cNvPr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0677D089-85CB-011A-F78A-6FCCE87F111F}"/>
              </a:ext>
            </a:extLst>
          </p:cNvPr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FC1DF474-78BF-131D-360C-B937F328E3FF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9" name="Freeform 7">
            <a:extLst>
              <a:ext uri="{FF2B5EF4-FFF2-40B4-BE49-F238E27FC236}">
                <a16:creationId xmlns:a16="http://schemas.microsoft.com/office/drawing/2014/main" id="{B19C1A5B-8CC1-DFCB-B958-E8C3C035CA62}"/>
              </a:ext>
            </a:extLst>
          </p:cNvPr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FFCF2191-91FF-618F-02D3-C28509578308}"/>
              </a:ext>
            </a:extLst>
          </p:cNvPr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988FD4DC-7E31-2245-A2F2-EE1B799C23F7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08922C00-81B6-2FE6-9B02-A4B081075847}"/>
              </a:ext>
            </a:extLst>
          </p:cNvPr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CF4B1BCD-6044-89DC-2ADA-BC19E2C32058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63CE3231-C473-57F9-C921-C9D187BB07C2}"/>
                </a:ext>
              </a:extLst>
            </p:cNvPr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5" name="Group 13">
              <a:extLst>
                <a:ext uri="{FF2B5EF4-FFF2-40B4-BE49-F238E27FC236}">
                  <a16:creationId xmlns:a16="http://schemas.microsoft.com/office/drawing/2014/main" id="{94C014AD-092B-CEF8-6158-8E0523082B8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21" name="Freeform 14">
                <a:extLst>
                  <a:ext uri="{FF2B5EF4-FFF2-40B4-BE49-F238E27FC236}">
                    <a16:creationId xmlns:a16="http://schemas.microsoft.com/office/drawing/2014/main" id="{48A92EFD-EBBA-3D1B-F425-651B8124BDA1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29B5311-9AC7-ECFD-E237-6176219FCD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20" name="Freeform 16">
                <a:extLst>
                  <a:ext uri="{FF2B5EF4-FFF2-40B4-BE49-F238E27FC236}">
                    <a16:creationId xmlns:a16="http://schemas.microsoft.com/office/drawing/2014/main" id="{E8D885E8-D95E-B5D8-84A1-0AF84B265ED9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FA07636-8A20-30DE-4432-EFBE59A311F5}"/>
                </a:ext>
              </a:extLst>
            </p:cNvPr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06C94316-45E3-8ABC-DE02-1A6878C7923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19E156FC-8BEA-921D-380E-8CEA9B7CB940}"/>
                  </a:ext>
                </a:extLst>
              </p:cNvPr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22" name="TextBox 20">
            <a:extLst>
              <a:ext uri="{FF2B5EF4-FFF2-40B4-BE49-F238E27FC236}">
                <a16:creationId xmlns:a16="http://schemas.microsoft.com/office/drawing/2014/main" id="{A2C90CFA-D9E4-0927-1E7F-DD83C9B6C683}"/>
              </a:ext>
            </a:extLst>
          </p:cNvPr>
          <p:cNvSpPr txBox="1"/>
          <p:nvPr/>
        </p:nvSpPr>
        <p:spPr>
          <a:xfrm>
            <a:off x="-321710" y="166152"/>
            <a:ext cx="18273281" cy="86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IN" sz="5400" dirty="0">
                <a:solidFill>
                  <a:srgbClr val="000000"/>
                </a:solidFill>
                <a:latin typeface="Alice" panose="020B0604020202020204" charset="0"/>
                <a:ea typeface="Alice"/>
                <a:cs typeface="Alice"/>
                <a:sym typeface="Alice"/>
              </a:rPr>
              <a:t>Research Paper Study </a:t>
            </a:r>
            <a:endParaRPr lang="en-US" sz="5099" dirty="0">
              <a:solidFill>
                <a:srgbClr val="000000"/>
              </a:solidFill>
              <a:latin typeface="Alice" panose="020B0604020202020204" charset="0"/>
              <a:ea typeface="Alice"/>
              <a:cs typeface="Alice"/>
              <a:sym typeface="Alice"/>
            </a:endParaRPr>
          </a:p>
        </p:txBody>
      </p:sp>
      <p:sp>
        <p:nvSpPr>
          <p:cNvPr id="24" name="AutoShape 10">
            <a:extLst>
              <a:ext uri="{FF2B5EF4-FFF2-40B4-BE49-F238E27FC236}">
                <a16:creationId xmlns:a16="http://schemas.microsoft.com/office/drawing/2014/main" id="{952F8C92-E5D8-C681-F192-ED9AF70284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4272BD-E2B3-DD26-8E24-FFD9278F302B}"/>
              </a:ext>
            </a:extLst>
          </p:cNvPr>
          <p:cNvSpPr txBox="1"/>
          <p:nvPr/>
        </p:nvSpPr>
        <p:spPr>
          <a:xfrm>
            <a:off x="1675514" y="1371113"/>
            <a:ext cx="10731649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Paper 1 (2025)</a:t>
            </a:r>
          </a:p>
          <a:p>
            <a:r>
              <a:rPr lang="en-IN" sz="2400" b="1" dirty="0"/>
              <a:t>Title:</a:t>
            </a:r>
            <a:r>
              <a:rPr lang="en-IN" sz="2400" dirty="0"/>
              <a:t> </a:t>
            </a:r>
            <a:r>
              <a:rPr lang="en-IN" sz="2400" i="1" dirty="0"/>
              <a:t>Assistive Technologies for the Visually Impaired: A Review</a:t>
            </a:r>
            <a:endParaRPr lang="en-IN" sz="2400" dirty="0"/>
          </a:p>
          <a:p>
            <a:r>
              <a:rPr lang="en-IN" sz="2400" b="1" dirty="0"/>
              <a:t>Authors:</a:t>
            </a:r>
            <a:r>
              <a:rPr lang="en-IN" sz="2400" dirty="0"/>
              <a:t> Farzad Cheraghpour </a:t>
            </a:r>
            <a:r>
              <a:rPr lang="en-IN" sz="2400" dirty="0" err="1"/>
              <a:t>Samavati</a:t>
            </a:r>
            <a:r>
              <a:rPr lang="en-IN" sz="2400" dirty="0"/>
              <a:t>, Ali Rahimi Ghasem Abadi</a:t>
            </a:r>
          </a:p>
          <a:p>
            <a:r>
              <a:rPr lang="en-IN" sz="2400" b="1" dirty="0"/>
              <a:t>Journal:</a:t>
            </a:r>
            <a:r>
              <a:rPr lang="en-IN" sz="2400" dirty="0"/>
              <a:t> </a:t>
            </a:r>
            <a:r>
              <a:rPr lang="en-IN" sz="2400" i="1" dirty="0" err="1"/>
              <a:t>Cureus</a:t>
            </a:r>
            <a:r>
              <a:rPr lang="en-IN" sz="2400" i="1" dirty="0"/>
              <a:t> Journal of Computer Science</a:t>
            </a:r>
            <a:r>
              <a:rPr lang="en-IN" sz="2400" dirty="0"/>
              <a:t> (2025)</a:t>
            </a:r>
          </a:p>
          <a:p>
            <a:r>
              <a:rPr lang="en-IN" sz="2400" b="1" dirty="0"/>
              <a:t>DOI:</a:t>
            </a:r>
            <a:r>
              <a:rPr lang="en-IN" sz="2400" dirty="0"/>
              <a:t> 10.7759/s44389-025-06891-1</a:t>
            </a:r>
          </a:p>
          <a:p>
            <a:r>
              <a:rPr lang="en-IN" sz="2400" b="1" dirty="0"/>
              <a:t>Objective</a:t>
            </a:r>
          </a:p>
          <a:p>
            <a:pPr lvl="0"/>
            <a:r>
              <a:rPr lang="en-IN" sz="2400" dirty="0"/>
              <a:t>Reviews AI-powered assistive technologies for visually impaired users. </a:t>
            </a:r>
          </a:p>
          <a:p>
            <a:pPr lvl="0"/>
            <a:r>
              <a:rPr lang="en-IN" sz="2400" dirty="0"/>
              <a:t>Focuses on speech interfaces, multimodal interaction, wearable devices, and accessibility. </a:t>
            </a:r>
          </a:p>
          <a:p>
            <a:r>
              <a:rPr lang="en-IN" sz="2400" b="1" dirty="0"/>
              <a:t>Key Findings</a:t>
            </a:r>
          </a:p>
          <a:p>
            <a:pPr lvl="0"/>
            <a:r>
              <a:rPr lang="en-IN" sz="2400" dirty="0"/>
              <a:t>Audio and multimodal interfaces improve accessibility. </a:t>
            </a:r>
          </a:p>
          <a:p>
            <a:pPr lvl="0"/>
            <a:r>
              <a:rPr lang="en-IN" sz="2400" dirty="0"/>
              <a:t>Low-cost, offline assistive devices are needed. </a:t>
            </a:r>
          </a:p>
          <a:p>
            <a:pPr lvl="0"/>
            <a:r>
              <a:rPr lang="en-IN" sz="2400" dirty="0"/>
              <a:t>User-friendly interfaces increase technology adoption. </a:t>
            </a:r>
          </a:p>
          <a:p>
            <a:pPr lvl="0"/>
            <a:r>
              <a:rPr lang="en-IN" sz="2400" dirty="0"/>
              <a:t>AI, IoT, speech processing, and multimodal feedback are emerging trends. </a:t>
            </a:r>
          </a:p>
          <a:p>
            <a:r>
              <a:rPr lang="en-IN" sz="2400" b="1" dirty="0"/>
              <a:t>Relation to Our Project</a:t>
            </a:r>
          </a:p>
          <a:p>
            <a:r>
              <a:rPr lang="en-IN" sz="2400" dirty="0"/>
              <a:t>Supports the </a:t>
            </a:r>
            <a:r>
              <a:rPr lang="en-IN" sz="2400" b="1" dirty="0"/>
              <a:t>IoT Scribe System for Visually Impaired Students</a:t>
            </a:r>
            <a:r>
              <a:rPr lang="en-IN" sz="2400" dirty="0"/>
              <a:t> by recommending </a:t>
            </a:r>
            <a:r>
              <a:rPr lang="en-IN" sz="2400" b="1" dirty="0"/>
              <a:t>audio guidance, affordable ESP32-based hardware, and IoT-enabled assistive technology</a:t>
            </a:r>
            <a:r>
              <a:rPr lang="en-IN" sz="2400" dirty="0"/>
              <a:t> for independent examination support.</a:t>
            </a:r>
          </a:p>
          <a:p>
            <a:r>
              <a:rPr lang="en-IN" sz="2400" b="1" dirty="0"/>
              <a:t>Paper Link</a:t>
            </a:r>
          </a:p>
          <a:p>
            <a:r>
              <a:rPr lang="en-IN" sz="2400" dirty="0"/>
              <a:t>🔗 </a:t>
            </a:r>
            <a:r>
              <a:rPr lang="en-IN" sz="2400" b="1" dirty="0"/>
              <a:t>https://doi.org/10.7759/s44389-025-06891-1</a:t>
            </a:r>
            <a:endParaRPr lang="en-IN" sz="2400" dirty="0"/>
          </a:p>
          <a:p>
            <a:r>
              <a:rPr lang="en-IN" sz="2400" dirty="0"/>
              <a:t>or</a:t>
            </a:r>
          </a:p>
          <a:p>
            <a:r>
              <a:rPr lang="en-IN" sz="2400" dirty="0"/>
              <a:t>🔗 </a:t>
            </a:r>
            <a:r>
              <a:rPr lang="en-IN" sz="2400" b="1" dirty="0"/>
              <a:t>https://www.cureus.com/articles/44389-assistive-technologies-for-the-visually-impaired-a-review</a:t>
            </a:r>
            <a:endParaRPr lang="en-IN" sz="2400" dirty="0"/>
          </a:p>
          <a:p>
            <a:pPr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15255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">
            <a:extLst>
              <a:ext uri="{FF2B5EF4-FFF2-40B4-BE49-F238E27FC236}">
                <a16:creationId xmlns:a16="http://schemas.microsoft.com/office/drawing/2014/main" id="{AC000508-75A4-DE52-9D97-F0804704AD00}"/>
              </a:ext>
            </a:extLst>
          </p:cNvPr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27" name="Freeform 3">
              <a:extLst>
                <a:ext uri="{FF2B5EF4-FFF2-40B4-BE49-F238E27FC236}">
                  <a16:creationId xmlns:a16="http://schemas.microsoft.com/office/drawing/2014/main" id="{DB58BE60-ED3F-59C6-90DD-706527C123CA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8" name="Freeform 4">
            <a:extLst>
              <a:ext uri="{FF2B5EF4-FFF2-40B4-BE49-F238E27FC236}">
                <a16:creationId xmlns:a16="http://schemas.microsoft.com/office/drawing/2014/main" id="{8B0D9D61-DE0D-F356-3C1F-B67DE750B804}"/>
              </a:ext>
            </a:extLst>
          </p:cNvPr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5">
            <a:extLst>
              <a:ext uri="{FF2B5EF4-FFF2-40B4-BE49-F238E27FC236}">
                <a16:creationId xmlns:a16="http://schemas.microsoft.com/office/drawing/2014/main" id="{4C6B9691-D26A-0262-AE81-554379C6FB89}"/>
              </a:ext>
            </a:extLst>
          </p:cNvPr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BED75DE4-1498-2A01-2574-8D18FA041DDD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31" name="Freeform 7">
            <a:extLst>
              <a:ext uri="{FF2B5EF4-FFF2-40B4-BE49-F238E27FC236}">
                <a16:creationId xmlns:a16="http://schemas.microsoft.com/office/drawing/2014/main" id="{B8BC6F70-6248-7E73-F8D3-8E65BE4FB018}"/>
              </a:ext>
            </a:extLst>
          </p:cNvPr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2" name="Group 8">
            <a:extLst>
              <a:ext uri="{FF2B5EF4-FFF2-40B4-BE49-F238E27FC236}">
                <a16:creationId xmlns:a16="http://schemas.microsoft.com/office/drawing/2014/main" id="{CA084928-3D57-E8DA-224F-11B4A9E4E550}"/>
              </a:ext>
            </a:extLst>
          </p:cNvPr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4619090D-C9B0-C2FA-7FFB-6CCAC21642B6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34" name="Group 10">
            <a:extLst>
              <a:ext uri="{FF2B5EF4-FFF2-40B4-BE49-F238E27FC236}">
                <a16:creationId xmlns:a16="http://schemas.microsoft.com/office/drawing/2014/main" id="{56CF7BB1-3B9A-67DF-C1A2-FBFA6A553B56}"/>
              </a:ext>
            </a:extLst>
          </p:cNvPr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35" name="Freeform 11">
              <a:extLst>
                <a:ext uri="{FF2B5EF4-FFF2-40B4-BE49-F238E27FC236}">
                  <a16:creationId xmlns:a16="http://schemas.microsoft.com/office/drawing/2014/main" id="{FDAA7A81-CC5D-8FF4-E224-50D39FE943A5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6" name="Freeform 12">
              <a:extLst>
                <a:ext uri="{FF2B5EF4-FFF2-40B4-BE49-F238E27FC236}">
                  <a16:creationId xmlns:a16="http://schemas.microsoft.com/office/drawing/2014/main" id="{D63A13D8-F851-4E82-C17D-F6285539200B}"/>
                </a:ext>
              </a:extLst>
            </p:cNvPr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7" name="Group 13">
              <a:extLst>
                <a:ext uri="{FF2B5EF4-FFF2-40B4-BE49-F238E27FC236}">
                  <a16:creationId xmlns:a16="http://schemas.microsoft.com/office/drawing/2014/main" id="{A3295628-589F-DCF3-1421-236C4A1B5DE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43" name="Freeform 14">
                <a:extLst>
                  <a:ext uri="{FF2B5EF4-FFF2-40B4-BE49-F238E27FC236}">
                    <a16:creationId xmlns:a16="http://schemas.microsoft.com/office/drawing/2014/main" id="{ED79AD66-B8C7-9474-E2D4-25782E769EED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574AC56-2314-CDAC-FC1D-B9B2BFCC2AD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42" name="Freeform 16">
                <a:extLst>
                  <a:ext uri="{FF2B5EF4-FFF2-40B4-BE49-F238E27FC236}">
                    <a16:creationId xmlns:a16="http://schemas.microsoft.com/office/drawing/2014/main" id="{89795695-A711-7732-3A39-92EBF67B54D7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39" name="Freeform 17">
              <a:extLst>
                <a:ext uri="{FF2B5EF4-FFF2-40B4-BE49-F238E27FC236}">
                  <a16:creationId xmlns:a16="http://schemas.microsoft.com/office/drawing/2014/main" id="{25DB2FDD-F57D-1CDE-48CA-7B35C8B7C081}"/>
                </a:ext>
              </a:extLst>
            </p:cNvPr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40" name="Group 18">
              <a:extLst>
                <a:ext uri="{FF2B5EF4-FFF2-40B4-BE49-F238E27FC236}">
                  <a16:creationId xmlns:a16="http://schemas.microsoft.com/office/drawing/2014/main" id="{983F2FFC-7E35-A1E4-2B4A-A91D88A635A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41" name="Freeform 19">
                <a:extLst>
                  <a:ext uri="{FF2B5EF4-FFF2-40B4-BE49-F238E27FC236}">
                    <a16:creationId xmlns:a16="http://schemas.microsoft.com/office/drawing/2014/main" id="{87C6477A-2C81-D9FB-0C20-566B6DB32290}"/>
                  </a:ext>
                </a:extLst>
              </p:cNvPr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44" name="TextBox 20">
            <a:extLst>
              <a:ext uri="{FF2B5EF4-FFF2-40B4-BE49-F238E27FC236}">
                <a16:creationId xmlns:a16="http://schemas.microsoft.com/office/drawing/2014/main" id="{81F84F92-792E-71EF-4FC8-82E1FC5036CA}"/>
              </a:ext>
            </a:extLst>
          </p:cNvPr>
          <p:cNvSpPr txBox="1"/>
          <p:nvPr/>
        </p:nvSpPr>
        <p:spPr>
          <a:xfrm>
            <a:off x="-457200" y="95082"/>
            <a:ext cx="18273281" cy="86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IN" sz="5400" dirty="0">
                <a:solidFill>
                  <a:srgbClr val="000000"/>
                </a:solidFill>
                <a:latin typeface="Alice" panose="020B0604020202020204" charset="0"/>
                <a:ea typeface="Alice"/>
                <a:cs typeface="Alice"/>
                <a:sym typeface="Alice"/>
              </a:rPr>
              <a:t>Research Paper Study </a:t>
            </a:r>
            <a:endParaRPr lang="en-US" sz="5099" dirty="0">
              <a:solidFill>
                <a:srgbClr val="000000"/>
              </a:solidFill>
              <a:latin typeface="Alice" panose="020B0604020202020204" charset="0"/>
              <a:ea typeface="Alice"/>
              <a:cs typeface="Alice"/>
              <a:sym typeface="Alice"/>
            </a:endParaRPr>
          </a:p>
        </p:txBody>
      </p:sp>
      <p:sp>
        <p:nvSpPr>
          <p:cNvPr id="45" name="AutoShape 10">
            <a:extLst>
              <a:ext uri="{FF2B5EF4-FFF2-40B4-BE49-F238E27FC236}">
                <a16:creationId xmlns:a16="http://schemas.microsoft.com/office/drawing/2014/main" id="{5FD2308A-CA15-17A9-2D90-59A298176D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E0A977-A439-BE69-D88B-AAAE1D5DF6C5}"/>
              </a:ext>
            </a:extLst>
          </p:cNvPr>
          <p:cNvSpPr txBox="1"/>
          <p:nvPr/>
        </p:nvSpPr>
        <p:spPr>
          <a:xfrm>
            <a:off x="1676400" y="1387199"/>
            <a:ext cx="10731649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Paper 2 (2026)</a:t>
            </a:r>
          </a:p>
          <a:p>
            <a:r>
              <a:rPr lang="en-IN" sz="2400" b="1" dirty="0"/>
              <a:t>Title:</a:t>
            </a:r>
            <a:r>
              <a:rPr lang="en-IN" sz="2400" dirty="0"/>
              <a:t> </a:t>
            </a:r>
            <a:r>
              <a:rPr lang="en-IN" sz="2400" i="1" dirty="0"/>
              <a:t>IoT-powered Wearable Assist Device for Visually Impaired</a:t>
            </a:r>
            <a:endParaRPr lang="en-IN" sz="2400" dirty="0"/>
          </a:p>
          <a:p>
            <a:r>
              <a:rPr lang="en-IN" sz="2400" b="1" dirty="0"/>
              <a:t>Authors:</a:t>
            </a:r>
            <a:r>
              <a:rPr lang="en-IN" sz="2400" dirty="0"/>
              <a:t> Lokesh S., Sukesh P., Tejaswini S., Meera M., Udhayakumar G.</a:t>
            </a:r>
          </a:p>
          <a:p>
            <a:r>
              <a:rPr lang="en-IN" sz="2400" b="1" dirty="0"/>
              <a:t>Journal:</a:t>
            </a:r>
            <a:r>
              <a:rPr lang="en-IN" sz="2400" dirty="0"/>
              <a:t> </a:t>
            </a:r>
            <a:r>
              <a:rPr lang="en-IN" sz="2400" i="1" dirty="0"/>
              <a:t>Disability and Rehabilitation: Assistive Technology</a:t>
            </a:r>
            <a:r>
              <a:rPr lang="en-IN" sz="2400" dirty="0"/>
              <a:t> (2026)</a:t>
            </a:r>
          </a:p>
          <a:p>
            <a:r>
              <a:rPr lang="en-IN" sz="2400" b="1" dirty="0"/>
              <a:t>DOI:</a:t>
            </a:r>
            <a:r>
              <a:rPr lang="en-IN" sz="2400" dirty="0"/>
              <a:t> 10.1080/17483107.2025.2582033</a:t>
            </a:r>
          </a:p>
          <a:p>
            <a:r>
              <a:rPr lang="en-IN" sz="2400" b="1" dirty="0"/>
              <a:t>Objective</a:t>
            </a:r>
          </a:p>
          <a:p>
            <a:pPr lvl="0"/>
            <a:r>
              <a:rPr lang="en-IN" sz="2400" dirty="0"/>
              <a:t>Develops an </a:t>
            </a:r>
            <a:r>
              <a:rPr lang="en-IN" sz="2400" b="1" dirty="0"/>
              <a:t>IoT-enabled wearable assistive device</a:t>
            </a:r>
            <a:r>
              <a:rPr lang="en-IN" sz="2400" dirty="0"/>
              <a:t> for visually impaired users. </a:t>
            </a:r>
          </a:p>
          <a:p>
            <a:pPr lvl="0"/>
            <a:r>
              <a:rPr lang="en-IN" sz="2400" dirty="0"/>
              <a:t>Integrates </a:t>
            </a:r>
            <a:r>
              <a:rPr lang="en-IN" sz="2400" b="1" dirty="0"/>
              <a:t>ESP32-CAM, ultrasonic sensors, object detection, and voice feedback</a:t>
            </a:r>
            <a:r>
              <a:rPr lang="en-IN" sz="2400" dirty="0"/>
              <a:t> to improve mobility and environmental awareness. </a:t>
            </a:r>
          </a:p>
          <a:p>
            <a:r>
              <a:rPr lang="en-IN" sz="2400" b="1" dirty="0"/>
              <a:t>Key Findings</a:t>
            </a:r>
          </a:p>
          <a:p>
            <a:pPr lvl="0"/>
            <a:r>
              <a:rPr lang="en-IN" sz="2400" dirty="0"/>
              <a:t>IoT-based wearable devices improve mobility and independence. </a:t>
            </a:r>
          </a:p>
          <a:p>
            <a:pPr lvl="0"/>
            <a:r>
              <a:rPr lang="en-IN" sz="2400" dirty="0"/>
              <a:t>Real-time object detection and voice feedback enhance accessibility and safety. </a:t>
            </a:r>
          </a:p>
          <a:p>
            <a:pPr lvl="0"/>
            <a:r>
              <a:rPr lang="en-IN" sz="2400" dirty="0"/>
              <a:t>ESP32-CAM with ultrasonic sensors provides a low-cost and efficient assistive solution. </a:t>
            </a:r>
          </a:p>
          <a:p>
            <a:pPr lvl="0"/>
            <a:r>
              <a:rPr lang="en-IN" sz="2400" dirty="0"/>
              <a:t>Achieved </a:t>
            </a:r>
            <a:r>
              <a:rPr lang="en-IN" sz="2400" b="1" dirty="0"/>
              <a:t>over 90% recognition accuracy</a:t>
            </a:r>
            <a:r>
              <a:rPr lang="en-IN" sz="2400" dirty="0"/>
              <a:t> with low computational latency. </a:t>
            </a:r>
          </a:p>
          <a:p>
            <a:r>
              <a:rPr lang="en-IN" sz="2400" b="1" dirty="0"/>
              <a:t>Relation to Our Project</a:t>
            </a:r>
          </a:p>
          <a:p>
            <a:r>
              <a:rPr lang="en-IN" sz="2400" dirty="0"/>
              <a:t>Supports the proposed </a:t>
            </a:r>
            <a:r>
              <a:rPr lang="en-IN" sz="2400" b="1" dirty="0"/>
              <a:t>IoT Scribe System for Visually Impaired Students</a:t>
            </a:r>
            <a:r>
              <a:rPr lang="en-IN" sz="2400" dirty="0"/>
              <a:t> by validating the use of </a:t>
            </a:r>
            <a:r>
              <a:rPr lang="en-IN" sz="2400" b="1" dirty="0"/>
              <a:t>ESP32-based IoT hardware, audio guidance, and affordable embedded systems</a:t>
            </a:r>
            <a:r>
              <a:rPr lang="en-IN" sz="2400" dirty="0"/>
              <a:t> to improve accessibility and independence during examinations.</a:t>
            </a:r>
          </a:p>
          <a:p>
            <a:r>
              <a:rPr lang="en-IN" sz="2400" b="1" dirty="0"/>
              <a:t>Paper Link</a:t>
            </a:r>
          </a:p>
          <a:p>
            <a:r>
              <a:rPr lang="en-IN" sz="2400" dirty="0"/>
              <a:t>🔗 </a:t>
            </a:r>
            <a:r>
              <a:rPr lang="en-IN" sz="2400" b="1" dirty="0">
                <a:hlinkClick r:id="rId10"/>
              </a:rPr>
              <a:t>https://pubmed.ncbi.nlm.nih.gov/41182323/</a:t>
            </a:r>
            <a:endParaRPr lang="en-IN" sz="2400" dirty="0"/>
          </a:p>
          <a:p>
            <a:r>
              <a:rPr lang="en-IN" sz="2400" dirty="0"/>
              <a:t>or</a:t>
            </a:r>
          </a:p>
          <a:p>
            <a:r>
              <a:rPr lang="en-IN" sz="2400" dirty="0"/>
              <a:t>🔗 </a:t>
            </a:r>
            <a:r>
              <a:rPr lang="en-IN" sz="2400" b="1" dirty="0">
                <a:hlinkClick r:id="rId11"/>
              </a:rPr>
              <a:t>https://doi.org/10.1080/17483107.2025.2582033</a:t>
            </a:r>
            <a:endParaRPr lang="en-IN" sz="2400" dirty="0"/>
          </a:p>
          <a:p>
            <a:pPr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49289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BBA28A21-A803-8829-690C-67752FB30EE6}"/>
              </a:ext>
            </a:extLst>
          </p:cNvPr>
          <p:cNvGrpSpPr>
            <a:grpSpLocks noChangeAspect="1"/>
          </p:cNvGrpSpPr>
          <p:nvPr/>
        </p:nvGrpSpPr>
        <p:grpSpPr>
          <a:xfrm>
            <a:off x="12605588" y="-71547"/>
            <a:ext cx="5682412" cy="3091395"/>
            <a:chOff x="0" y="0"/>
            <a:chExt cx="4230776" cy="2301672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822EF997-178C-4CF9-95EF-A43F202C74E3}"/>
                </a:ext>
              </a:extLst>
            </p:cNvPr>
            <p:cNvSpPr/>
            <p:nvPr/>
          </p:nvSpPr>
          <p:spPr>
            <a:xfrm>
              <a:off x="2109089" y="0"/>
              <a:ext cx="2119376" cy="1600073"/>
            </a:xfrm>
            <a:custGeom>
              <a:avLst/>
              <a:gdLst/>
              <a:ahLst/>
              <a:cxnLst/>
              <a:rect l="l" t="t" r="r" b="b"/>
              <a:pathLst>
                <a:path w="2119376" h="1600073">
                  <a:moveTo>
                    <a:pt x="0" y="0"/>
                  </a:moveTo>
                  <a:lnTo>
                    <a:pt x="2119376" y="1600073"/>
                  </a:lnTo>
                  <a:lnTo>
                    <a:pt x="211937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" name="Freeform 4">
            <a:extLst>
              <a:ext uri="{FF2B5EF4-FFF2-40B4-BE49-F238E27FC236}">
                <a16:creationId xmlns:a16="http://schemas.microsoft.com/office/drawing/2014/main" id="{40D4EC74-608F-3878-621A-43A4E6A4E43F}"/>
              </a:ext>
            </a:extLst>
          </p:cNvPr>
          <p:cNvSpPr/>
          <p:nvPr/>
        </p:nvSpPr>
        <p:spPr>
          <a:xfrm>
            <a:off x="0" y="63503"/>
            <a:ext cx="5555196" cy="2938111"/>
          </a:xfrm>
          <a:custGeom>
            <a:avLst/>
            <a:gdLst/>
            <a:ahLst/>
            <a:cxnLst/>
            <a:rect l="l" t="t" r="r" b="b"/>
            <a:pathLst>
              <a:path w="5555196" h="2938111">
                <a:moveTo>
                  <a:pt x="0" y="0"/>
                </a:moveTo>
                <a:lnTo>
                  <a:pt x="5555196" y="0"/>
                </a:lnTo>
                <a:lnTo>
                  <a:pt x="5555196" y="2938111"/>
                </a:lnTo>
                <a:lnTo>
                  <a:pt x="0" y="2938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5">
            <a:extLst>
              <a:ext uri="{FF2B5EF4-FFF2-40B4-BE49-F238E27FC236}">
                <a16:creationId xmlns:a16="http://schemas.microsoft.com/office/drawing/2014/main" id="{DC4A6645-497A-76EF-0006-8FE7380025FA}"/>
              </a:ext>
            </a:extLst>
          </p:cNvPr>
          <p:cNvGrpSpPr>
            <a:grpSpLocks noChangeAspect="1"/>
          </p:cNvGrpSpPr>
          <p:nvPr/>
        </p:nvGrpSpPr>
        <p:grpSpPr>
          <a:xfrm>
            <a:off x="-12232" y="23308"/>
            <a:ext cx="3655979" cy="2419133"/>
            <a:chOff x="0" y="0"/>
            <a:chExt cx="2494293" cy="1650454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65D4CC7-EF31-F670-9D20-895C8C71F383}"/>
                </a:ext>
              </a:extLst>
            </p:cNvPr>
            <p:cNvSpPr/>
            <p:nvPr/>
          </p:nvSpPr>
          <p:spPr>
            <a:xfrm flipV="1">
              <a:off x="0" y="0"/>
              <a:ext cx="2494280" cy="1650492"/>
            </a:xfrm>
            <a:custGeom>
              <a:avLst/>
              <a:gdLst/>
              <a:ahLst/>
              <a:cxnLst/>
              <a:rect l="l" t="t" r="r" b="b"/>
              <a:pathLst>
                <a:path w="2494280" h="1650492">
                  <a:moveTo>
                    <a:pt x="468884" y="1650492"/>
                  </a:moveTo>
                  <a:lnTo>
                    <a:pt x="0" y="715645"/>
                  </a:lnTo>
                  <a:lnTo>
                    <a:pt x="0" y="0"/>
                  </a:lnTo>
                  <a:lnTo>
                    <a:pt x="2494280" y="1650492"/>
                  </a:lnTo>
                  <a:close/>
                </a:path>
              </a:pathLst>
            </a:custGeom>
            <a:blipFill>
              <a:blip r:embed="rId3"/>
              <a:stretch>
                <a:fillRect l="-21533" t="-52205" r="-9221" b="-21530"/>
              </a:stretch>
            </a:blipFill>
          </p:spPr>
        </p:sp>
      </p:grpSp>
      <p:sp>
        <p:nvSpPr>
          <p:cNvPr id="11" name="Freeform 7">
            <a:extLst>
              <a:ext uri="{FF2B5EF4-FFF2-40B4-BE49-F238E27FC236}">
                <a16:creationId xmlns:a16="http://schemas.microsoft.com/office/drawing/2014/main" id="{8566FE6F-FC92-4359-1102-5888EFD96B01}"/>
              </a:ext>
            </a:extLst>
          </p:cNvPr>
          <p:cNvSpPr/>
          <p:nvPr/>
        </p:nvSpPr>
        <p:spPr>
          <a:xfrm>
            <a:off x="8064082" y="-83694"/>
            <a:ext cx="9603698" cy="1470893"/>
          </a:xfrm>
          <a:custGeom>
            <a:avLst/>
            <a:gdLst/>
            <a:ahLst/>
            <a:cxnLst/>
            <a:rect l="l" t="t" r="r" b="b"/>
            <a:pathLst>
              <a:path w="9603698" h="1470893">
                <a:moveTo>
                  <a:pt x="0" y="0"/>
                </a:moveTo>
                <a:lnTo>
                  <a:pt x="9603698" y="0"/>
                </a:lnTo>
                <a:lnTo>
                  <a:pt x="9603698" y="1470893"/>
                </a:lnTo>
                <a:lnTo>
                  <a:pt x="0" y="1470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EA798692-F848-B4CA-0B01-825243B76562}"/>
              </a:ext>
            </a:extLst>
          </p:cNvPr>
          <p:cNvGrpSpPr>
            <a:grpSpLocks noChangeAspect="1"/>
          </p:cNvGrpSpPr>
          <p:nvPr/>
        </p:nvGrpSpPr>
        <p:grpSpPr>
          <a:xfrm>
            <a:off x="10775134" y="-264646"/>
            <a:ext cx="5202741" cy="1217186"/>
            <a:chOff x="0" y="0"/>
            <a:chExt cx="3942766" cy="922414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5027191E-4602-9C9C-690F-55CEAA453026}"/>
                </a:ext>
              </a:extLst>
            </p:cNvPr>
            <p:cNvSpPr/>
            <p:nvPr/>
          </p:nvSpPr>
          <p:spPr>
            <a:xfrm flipV="1">
              <a:off x="0" y="0"/>
              <a:ext cx="3942715" cy="922401"/>
            </a:xfrm>
            <a:custGeom>
              <a:avLst/>
              <a:gdLst/>
              <a:ahLst/>
              <a:cxnLst/>
              <a:rect l="l" t="t" r="r" b="b"/>
              <a:pathLst>
                <a:path w="3942715" h="922401">
                  <a:moveTo>
                    <a:pt x="0" y="922401"/>
                  </a:moveTo>
                  <a:lnTo>
                    <a:pt x="3942715" y="0"/>
                  </a:lnTo>
                  <a:lnTo>
                    <a:pt x="3942715" y="0"/>
                  </a:lnTo>
                  <a:lnTo>
                    <a:pt x="1664462" y="922401"/>
                  </a:lnTo>
                  <a:close/>
                </a:path>
              </a:pathLst>
            </a:custGeom>
            <a:blipFill>
              <a:blip r:embed="rId5"/>
              <a:stretch>
                <a:fillRect l="-94283" t="-93526" r="-46" b="-1"/>
              </a:stretch>
            </a:blipFill>
          </p:spPr>
        </p:sp>
      </p:grpSp>
      <p:grpSp>
        <p:nvGrpSpPr>
          <p:cNvPr id="14" name="Group 10">
            <a:extLst>
              <a:ext uri="{FF2B5EF4-FFF2-40B4-BE49-F238E27FC236}">
                <a16:creationId xmlns:a16="http://schemas.microsoft.com/office/drawing/2014/main" id="{350DCA1F-69B3-F6F3-10A9-BFA7086E20C7}"/>
              </a:ext>
            </a:extLst>
          </p:cNvPr>
          <p:cNvGrpSpPr/>
          <p:nvPr/>
        </p:nvGrpSpPr>
        <p:grpSpPr>
          <a:xfrm>
            <a:off x="14719" y="7511756"/>
            <a:ext cx="18273281" cy="3851542"/>
            <a:chOff x="0" y="0"/>
            <a:chExt cx="24364375" cy="5135389"/>
          </a:xfrm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720DD034-888D-B04A-EEF5-21FAEE5B3DC6}"/>
                </a:ext>
              </a:extLst>
            </p:cNvPr>
            <p:cNvSpPr/>
            <p:nvPr/>
          </p:nvSpPr>
          <p:spPr>
            <a:xfrm>
              <a:off x="0" y="0"/>
              <a:ext cx="7459566" cy="5135389"/>
            </a:xfrm>
            <a:custGeom>
              <a:avLst/>
              <a:gdLst/>
              <a:ahLst/>
              <a:cxnLst/>
              <a:rect l="l" t="t" r="r" b="b"/>
              <a:pathLst>
                <a:path w="7459566" h="5135389">
                  <a:moveTo>
                    <a:pt x="0" y="0"/>
                  </a:moveTo>
                  <a:lnTo>
                    <a:pt x="7459566" y="0"/>
                  </a:lnTo>
                  <a:lnTo>
                    <a:pt x="7459566" y="5135389"/>
                  </a:lnTo>
                  <a:lnTo>
                    <a:pt x="0" y="513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9CD473FD-85FC-0837-39EF-968FC1E809CE}"/>
                </a:ext>
              </a:extLst>
            </p:cNvPr>
            <p:cNvSpPr/>
            <p:nvPr/>
          </p:nvSpPr>
          <p:spPr>
            <a:xfrm>
              <a:off x="12793750" y="1265932"/>
              <a:ext cx="11570625" cy="3348170"/>
            </a:xfrm>
            <a:custGeom>
              <a:avLst/>
              <a:gdLst/>
              <a:ahLst/>
              <a:cxnLst/>
              <a:rect l="l" t="t" r="r" b="b"/>
              <a:pathLst>
                <a:path w="11570625" h="3348170">
                  <a:moveTo>
                    <a:pt x="0" y="0"/>
                  </a:moveTo>
                  <a:lnTo>
                    <a:pt x="11570625" y="0"/>
                  </a:lnTo>
                  <a:lnTo>
                    <a:pt x="11570625" y="3348170"/>
                  </a:lnTo>
                  <a:lnTo>
                    <a:pt x="0" y="3348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7" name="Group 13">
              <a:extLst>
                <a:ext uri="{FF2B5EF4-FFF2-40B4-BE49-F238E27FC236}">
                  <a16:creationId xmlns:a16="http://schemas.microsoft.com/office/drawing/2014/main" id="{3B4CA049-6843-A0E6-61CA-67883C9210B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472301"/>
              <a:ext cx="4724032" cy="3125856"/>
              <a:chOff x="0" y="0"/>
              <a:chExt cx="1956537" cy="1294625"/>
            </a:xfrm>
          </p:grpSpPr>
          <p:sp>
            <p:nvSpPr>
              <p:cNvPr id="23" name="Freeform 14">
                <a:extLst>
                  <a:ext uri="{FF2B5EF4-FFF2-40B4-BE49-F238E27FC236}">
                    <a16:creationId xmlns:a16="http://schemas.microsoft.com/office/drawing/2014/main" id="{FD2C30A0-B549-87C9-3B80-C789DC67D4E9}"/>
                  </a:ext>
                </a:extLst>
              </p:cNvPr>
              <p:cNvSpPr/>
              <p:nvPr/>
            </p:nvSpPr>
            <p:spPr>
              <a:xfrm>
                <a:off x="0" y="0"/>
                <a:ext cx="1956562" cy="1294638"/>
              </a:xfrm>
              <a:custGeom>
                <a:avLst/>
                <a:gdLst/>
                <a:ahLst/>
                <a:cxnLst/>
                <a:rect l="l" t="t" r="r" b="b"/>
                <a:pathLst>
                  <a:path w="1956562" h="1294638">
                    <a:moveTo>
                      <a:pt x="0" y="0"/>
                    </a:moveTo>
                    <a:lnTo>
                      <a:pt x="0" y="1294638"/>
                    </a:lnTo>
                    <a:lnTo>
                      <a:pt x="1956562" y="12946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63775" t="-63776" r="-2913" b="-57713"/>
                </a:stretch>
              </a:blipFill>
            </p:spPr>
          </p:sp>
        </p:grpSp>
        <p:grpSp>
          <p:nvGrpSpPr>
            <p:cNvPr id="18" name="Group 15">
              <a:extLst>
                <a:ext uri="{FF2B5EF4-FFF2-40B4-BE49-F238E27FC236}">
                  <a16:creationId xmlns:a16="http://schemas.microsoft.com/office/drawing/2014/main" id="{3E0384DF-9729-F2B6-F3C9-1907AB3A788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3416153" y="3411286"/>
              <a:ext cx="921238" cy="1217544"/>
              <a:chOff x="0" y="0"/>
              <a:chExt cx="381546" cy="504266"/>
            </a:xfrm>
          </p:grpSpPr>
          <p:sp>
            <p:nvSpPr>
              <p:cNvPr id="22" name="Freeform 16">
                <a:extLst>
                  <a:ext uri="{FF2B5EF4-FFF2-40B4-BE49-F238E27FC236}">
                    <a16:creationId xmlns:a16="http://schemas.microsoft.com/office/drawing/2014/main" id="{1401FDA0-B22B-CB54-C70F-F24BD9113E96}"/>
                  </a:ext>
                </a:extLst>
              </p:cNvPr>
              <p:cNvSpPr/>
              <p:nvPr/>
            </p:nvSpPr>
            <p:spPr>
              <a:xfrm>
                <a:off x="0" y="0"/>
                <a:ext cx="381508" cy="504317"/>
              </a:xfrm>
              <a:custGeom>
                <a:avLst/>
                <a:gdLst/>
                <a:ahLst/>
                <a:cxnLst/>
                <a:rect l="l" t="t" r="r" b="b"/>
                <a:pathLst>
                  <a:path w="381508" h="504317">
                    <a:moveTo>
                      <a:pt x="381508" y="0"/>
                    </a:moveTo>
                    <a:lnTo>
                      <a:pt x="0" y="504317"/>
                    </a:lnTo>
                    <a:lnTo>
                      <a:pt x="381508" y="504317"/>
                    </a:lnTo>
                    <a:lnTo>
                      <a:pt x="381508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48149" t="-173666" r="-173715" b="-148280"/>
                </a:stretch>
              </a:blipFill>
            </p:spPr>
          </p:sp>
        </p:grp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3C829D5A-2D9D-4633-50FD-09B2661C3E31}"/>
                </a:ext>
              </a:extLst>
            </p:cNvPr>
            <p:cNvSpPr/>
            <p:nvPr/>
          </p:nvSpPr>
          <p:spPr>
            <a:xfrm>
              <a:off x="361344" y="2125300"/>
              <a:ext cx="23993218" cy="2519476"/>
            </a:xfrm>
            <a:custGeom>
              <a:avLst/>
              <a:gdLst/>
              <a:ahLst/>
              <a:cxnLst/>
              <a:rect l="l" t="t" r="r" b="b"/>
              <a:pathLst>
                <a:path w="23993218" h="2519476">
                  <a:moveTo>
                    <a:pt x="0" y="0"/>
                  </a:moveTo>
                  <a:lnTo>
                    <a:pt x="23993219" y="0"/>
                  </a:lnTo>
                  <a:lnTo>
                    <a:pt x="23993219" y="2519475"/>
                  </a:lnTo>
                  <a:lnTo>
                    <a:pt x="0" y="2519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0" name="Group 18">
              <a:extLst>
                <a:ext uri="{FF2B5EF4-FFF2-40B4-BE49-F238E27FC236}">
                  <a16:creationId xmlns:a16="http://schemas.microsoft.com/office/drawing/2014/main" id="{511235CF-06F3-A10B-322F-F25805B3753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70607" y="2125330"/>
              <a:ext cx="10700964" cy="2503500"/>
              <a:chOff x="0" y="0"/>
              <a:chExt cx="4431982" cy="1036866"/>
            </a:xfrm>
          </p:grpSpPr>
          <p:sp>
            <p:nvSpPr>
              <p:cNvPr id="21" name="Freeform 19">
                <a:extLst>
                  <a:ext uri="{FF2B5EF4-FFF2-40B4-BE49-F238E27FC236}">
                    <a16:creationId xmlns:a16="http://schemas.microsoft.com/office/drawing/2014/main" id="{195EDCFF-893F-B280-AF7C-D2C678FA80A6}"/>
                  </a:ext>
                </a:extLst>
              </p:cNvPr>
              <p:cNvSpPr/>
              <p:nvPr/>
            </p:nvSpPr>
            <p:spPr>
              <a:xfrm>
                <a:off x="0" y="0"/>
                <a:ext cx="4431919" cy="1036828"/>
              </a:xfrm>
              <a:custGeom>
                <a:avLst/>
                <a:gdLst/>
                <a:ahLst/>
                <a:cxnLst/>
                <a:rect l="l" t="t" r="r" b="b"/>
                <a:pathLst>
                  <a:path w="4431919" h="1036828">
                    <a:moveTo>
                      <a:pt x="4431919" y="0"/>
                    </a:moveTo>
                    <a:lnTo>
                      <a:pt x="0" y="1036828"/>
                    </a:lnTo>
                    <a:lnTo>
                      <a:pt x="1870964" y="1036828"/>
                    </a:lnTo>
                    <a:lnTo>
                      <a:pt x="4431919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72837" r="-41" b="-72169"/>
                </a:stretch>
              </a:blipFill>
            </p:spPr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4BEC3C3-0ED0-77E0-44C7-29BD4E307034}"/>
              </a:ext>
            </a:extLst>
          </p:cNvPr>
          <p:cNvSpPr txBox="1"/>
          <p:nvPr/>
        </p:nvSpPr>
        <p:spPr>
          <a:xfrm>
            <a:off x="3896409" y="3693901"/>
            <a:ext cx="1049518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600" dirty="0">
                <a:latin typeface="Alice" panose="020B060402020202020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46827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630</Words>
  <Application>Microsoft Office PowerPoint</Application>
  <PresentationFormat>Custom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Alice</vt:lpstr>
      <vt:lpstr>Arial Black</vt:lpstr>
      <vt:lpstr>Wingdings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</dc:title>
  <dc:creator>Sarika Tiwari</dc:creator>
  <cp:lastModifiedBy>OM MALLEPELLI</cp:lastModifiedBy>
  <cp:revision>15</cp:revision>
  <dcterms:created xsi:type="dcterms:W3CDTF">2006-08-16T00:00:00Z</dcterms:created>
  <dcterms:modified xsi:type="dcterms:W3CDTF">2026-10-02T10:23:08Z</dcterms:modified>
  <dc:identifier>DAG3DFHr7qI</dc:identifier>
</cp:coreProperties>
</file>